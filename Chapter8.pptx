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2" r:id="rId5"/>
    <p:sldId id="259" r:id="rId6"/>
    <p:sldId id="263" r:id="rId7"/>
    <p:sldId id="260" r:id="rId8"/>
    <p:sldId id="265" r:id="rId9"/>
    <p:sldId id="264" r:id="rId10"/>
    <p:sldId id="266" r:id="rId11"/>
  </p:sldIdLst>
  <p:sldSz cx="12192000" cy="6858000"/>
  <p:notesSz cx="6858000" cy="9144000"/>
  <p:defaultTextStyle>
    <a:defPPr>
      <a:defRPr lang="ar-S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52" d="100"/>
          <a:sy n="52" d="100"/>
        </p:scale>
        <p:origin x="821"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mer ltag" userId="83a4243e0f7a2aa8" providerId="LiveId" clId="{8D34D4BA-AA4B-475F-93E3-9CB1AF892972}"/>
    <pc:docChg chg="modSld">
      <pc:chgData name="omer ltag" userId="83a4243e0f7a2aa8" providerId="LiveId" clId="{8D34D4BA-AA4B-475F-93E3-9CB1AF892972}" dt="2024-12-15T09:27:25.311" v="0" actId="14100"/>
      <pc:docMkLst>
        <pc:docMk/>
      </pc:docMkLst>
      <pc:sldChg chg="modSp mod">
        <pc:chgData name="omer ltag" userId="83a4243e0f7a2aa8" providerId="LiveId" clId="{8D34D4BA-AA4B-475F-93E3-9CB1AF892972}" dt="2024-12-15T09:27:25.311" v="0" actId="14100"/>
        <pc:sldMkLst>
          <pc:docMk/>
          <pc:sldMk cId="3450387215" sldId="257"/>
        </pc:sldMkLst>
        <pc:spChg chg="mod">
          <ac:chgData name="omer ltag" userId="83a4243e0f7a2aa8" providerId="LiveId" clId="{8D34D4BA-AA4B-475F-93E3-9CB1AF892972}" dt="2024-12-15T09:27:25.311" v="0" actId="14100"/>
          <ac:spMkLst>
            <pc:docMk/>
            <pc:sldMk cId="3450387215" sldId="257"/>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ar-S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ar-SA"/>
          </a:p>
        </p:txBody>
      </p:sp>
      <p:sp>
        <p:nvSpPr>
          <p:cNvPr id="4" name="Date Placeholder 3"/>
          <p:cNvSpPr>
            <a:spLocks noGrp="1"/>
          </p:cNvSpPr>
          <p:nvPr>
            <p:ph type="dt" sz="half" idx="10"/>
          </p:nvPr>
        </p:nvSpPr>
        <p:spPr/>
        <p:txBody>
          <a:bodyPr/>
          <a:lstStyle/>
          <a:p>
            <a:fld id="{C40140A6-372F-426A-82F1-AC0DB7CE05F4}" type="datetimeFigureOut">
              <a:rPr lang="ar-SA" smtClean="0"/>
              <a:t>14/06/46</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0E432819-B1C9-4D2F-8F6B-911D67ACBAA2}" type="slidenum">
              <a:rPr lang="ar-SA" smtClean="0"/>
              <a:t>‹#›</a:t>
            </a:fld>
            <a:endParaRPr lang="ar-SA"/>
          </a:p>
        </p:txBody>
      </p:sp>
    </p:spTree>
    <p:extLst>
      <p:ext uri="{BB962C8B-B14F-4D97-AF65-F5344CB8AC3E}">
        <p14:creationId xmlns:p14="http://schemas.microsoft.com/office/powerpoint/2010/main" val="1452806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SA"/>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4" name="Date Placeholder 3"/>
          <p:cNvSpPr>
            <a:spLocks noGrp="1"/>
          </p:cNvSpPr>
          <p:nvPr>
            <p:ph type="dt" sz="half" idx="10"/>
          </p:nvPr>
        </p:nvSpPr>
        <p:spPr/>
        <p:txBody>
          <a:bodyPr/>
          <a:lstStyle/>
          <a:p>
            <a:fld id="{C40140A6-372F-426A-82F1-AC0DB7CE05F4}" type="datetimeFigureOut">
              <a:rPr lang="ar-SA" smtClean="0"/>
              <a:t>14/06/46</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0E432819-B1C9-4D2F-8F6B-911D67ACBAA2}" type="slidenum">
              <a:rPr lang="ar-SA" smtClean="0"/>
              <a:t>‹#›</a:t>
            </a:fld>
            <a:endParaRPr lang="ar-SA"/>
          </a:p>
        </p:txBody>
      </p:sp>
    </p:spTree>
    <p:extLst>
      <p:ext uri="{BB962C8B-B14F-4D97-AF65-F5344CB8AC3E}">
        <p14:creationId xmlns:p14="http://schemas.microsoft.com/office/powerpoint/2010/main" val="717502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ar-SA"/>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40140A6-372F-426A-82F1-AC0DB7CE05F4}" type="datetimeFigureOut">
              <a:rPr lang="ar-SA" smtClean="0"/>
              <a:t>14/06/46</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0E432819-B1C9-4D2F-8F6B-911D67ACBAA2}" type="slidenum">
              <a:rPr lang="ar-SA" smtClean="0"/>
              <a:t>‹#›</a:t>
            </a:fld>
            <a:endParaRPr lang="ar-SA"/>
          </a:p>
        </p:txBody>
      </p:sp>
    </p:spTree>
    <p:extLst>
      <p:ext uri="{BB962C8B-B14F-4D97-AF65-F5344CB8AC3E}">
        <p14:creationId xmlns:p14="http://schemas.microsoft.com/office/powerpoint/2010/main" val="1127787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SA"/>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5" name="Date Placeholder 4"/>
          <p:cNvSpPr>
            <a:spLocks noGrp="1"/>
          </p:cNvSpPr>
          <p:nvPr>
            <p:ph type="dt" sz="half" idx="10"/>
          </p:nvPr>
        </p:nvSpPr>
        <p:spPr/>
        <p:txBody>
          <a:bodyPr/>
          <a:lstStyle/>
          <a:p>
            <a:fld id="{C40140A6-372F-426A-82F1-AC0DB7CE05F4}" type="datetimeFigureOut">
              <a:rPr lang="ar-SA" smtClean="0"/>
              <a:t>14/06/46</a:t>
            </a:fld>
            <a:endParaRPr lang="ar-SA"/>
          </a:p>
        </p:txBody>
      </p:sp>
      <p:sp>
        <p:nvSpPr>
          <p:cNvPr id="6" name="Footer Placeholder 5"/>
          <p:cNvSpPr>
            <a:spLocks noGrp="1"/>
          </p:cNvSpPr>
          <p:nvPr>
            <p:ph type="ftr" sz="quarter" idx="11"/>
          </p:nvPr>
        </p:nvSpPr>
        <p:spPr/>
        <p:txBody>
          <a:bodyPr/>
          <a:lstStyle/>
          <a:p>
            <a:endParaRPr lang="ar-SA"/>
          </a:p>
        </p:txBody>
      </p:sp>
      <p:sp>
        <p:nvSpPr>
          <p:cNvPr id="7" name="Slide Number Placeholder 6"/>
          <p:cNvSpPr>
            <a:spLocks noGrp="1"/>
          </p:cNvSpPr>
          <p:nvPr>
            <p:ph type="sldNum" sz="quarter" idx="12"/>
          </p:nvPr>
        </p:nvSpPr>
        <p:spPr/>
        <p:txBody>
          <a:bodyPr/>
          <a:lstStyle/>
          <a:p>
            <a:fld id="{0E432819-B1C9-4D2F-8F6B-911D67ACBAA2}" type="slidenum">
              <a:rPr lang="ar-SA" smtClean="0"/>
              <a:t>‹#›</a:t>
            </a:fld>
            <a:endParaRPr lang="ar-SA"/>
          </a:p>
        </p:txBody>
      </p:sp>
    </p:spTree>
    <p:extLst>
      <p:ext uri="{BB962C8B-B14F-4D97-AF65-F5344CB8AC3E}">
        <p14:creationId xmlns:p14="http://schemas.microsoft.com/office/powerpoint/2010/main" val="435092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ar-SA"/>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7" name="Date Placeholder 6"/>
          <p:cNvSpPr>
            <a:spLocks noGrp="1"/>
          </p:cNvSpPr>
          <p:nvPr>
            <p:ph type="dt" sz="half" idx="10"/>
          </p:nvPr>
        </p:nvSpPr>
        <p:spPr/>
        <p:txBody>
          <a:bodyPr/>
          <a:lstStyle/>
          <a:p>
            <a:fld id="{C40140A6-372F-426A-82F1-AC0DB7CE05F4}" type="datetimeFigureOut">
              <a:rPr lang="ar-SA" smtClean="0"/>
              <a:t>14/06/46</a:t>
            </a:fld>
            <a:endParaRPr lang="ar-SA"/>
          </a:p>
        </p:txBody>
      </p:sp>
      <p:sp>
        <p:nvSpPr>
          <p:cNvPr id="8" name="Footer Placeholder 7"/>
          <p:cNvSpPr>
            <a:spLocks noGrp="1"/>
          </p:cNvSpPr>
          <p:nvPr>
            <p:ph type="ftr" sz="quarter" idx="11"/>
          </p:nvPr>
        </p:nvSpPr>
        <p:spPr/>
        <p:txBody>
          <a:bodyPr/>
          <a:lstStyle/>
          <a:p>
            <a:endParaRPr lang="ar-SA"/>
          </a:p>
        </p:txBody>
      </p:sp>
      <p:sp>
        <p:nvSpPr>
          <p:cNvPr id="9" name="Slide Number Placeholder 8"/>
          <p:cNvSpPr>
            <a:spLocks noGrp="1"/>
          </p:cNvSpPr>
          <p:nvPr>
            <p:ph type="sldNum" sz="quarter" idx="12"/>
          </p:nvPr>
        </p:nvSpPr>
        <p:spPr/>
        <p:txBody>
          <a:bodyPr/>
          <a:lstStyle/>
          <a:p>
            <a:fld id="{0E432819-B1C9-4D2F-8F6B-911D67ACBAA2}" type="slidenum">
              <a:rPr lang="ar-SA" smtClean="0"/>
              <a:t>‹#›</a:t>
            </a:fld>
            <a:endParaRPr lang="ar-SA"/>
          </a:p>
        </p:txBody>
      </p:sp>
    </p:spTree>
    <p:extLst>
      <p:ext uri="{BB962C8B-B14F-4D97-AF65-F5344CB8AC3E}">
        <p14:creationId xmlns:p14="http://schemas.microsoft.com/office/powerpoint/2010/main" val="1735136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SA"/>
          </a:p>
        </p:txBody>
      </p:sp>
      <p:sp>
        <p:nvSpPr>
          <p:cNvPr id="3" name="Date Placeholder 2"/>
          <p:cNvSpPr>
            <a:spLocks noGrp="1"/>
          </p:cNvSpPr>
          <p:nvPr>
            <p:ph type="dt" sz="half" idx="10"/>
          </p:nvPr>
        </p:nvSpPr>
        <p:spPr/>
        <p:txBody>
          <a:bodyPr/>
          <a:lstStyle/>
          <a:p>
            <a:fld id="{C40140A6-372F-426A-82F1-AC0DB7CE05F4}" type="datetimeFigureOut">
              <a:rPr lang="ar-SA" smtClean="0"/>
              <a:t>14/06/46</a:t>
            </a:fld>
            <a:endParaRPr lang="ar-SA"/>
          </a:p>
        </p:txBody>
      </p:sp>
      <p:sp>
        <p:nvSpPr>
          <p:cNvPr id="4" name="Footer Placeholder 3"/>
          <p:cNvSpPr>
            <a:spLocks noGrp="1"/>
          </p:cNvSpPr>
          <p:nvPr>
            <p:ph type="ftr" sz="quarter" idx="11"/>
          </p:nvPr>
        </p:nvSpPr>
        <p:spPr/>
        <p:txBody>
          <a:bodyPr/>
          <a:lstStyle/>
          <a:p>
            <a:endParaRPr lang="ar-SA"/>
          </a:p>
        </p:txBody>
      </p:sp>
      <p:sp>
        <p:nvSpPr>
          <p:cNvPr id="5" name="Slide Number Placeholder 4"/>
          <p:cNvSpPr>
            <a:spLocks noGrp="1"/>
          </p:cNvSpPr>
          <p:nvPr>
            <p:ph type="sldNum" sz="quarter" idx="12"/>
          </p:nvPr>
        </p:nvSpPr>
        <p:spPr/>
        <p:txBody>
          <a:bodyPr/>
          <a:lstStyle/>
          <a:p>
            <a:fld id="{0E432819-B1C9-4D2F-8F6B-911D67ACBAA2}" type="slidenum">
              <a:rPr lang="ar-SA" smtClean="0"/>
              <a:t>‹#›</a:t>
            </a:fld>
            <a:endParaRPr lang="ar-SA"/>
          </a:p>
        </p:txBody>
      </p:sp>
    </p:spTree>
    <p:extLst>
      <p:ext uri="{BB962C8B-B14F-4D97-AF65-F5344CB8AC3E}">
        <p14:creationId xmlns:p14="http://schemas.microsoft.com/office/powerpoint/2010/main" val="625664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0140A6-372F-426A-82F1-AC0DB7CE05F4}" type="datetimeFigureOut">
              <a:rPr lang="ar-SA" smtClean="0"/>
              <a:t>14/06/46</a:t>
            </a:fld>
            <a:endParaRPr lang="ar-SA"/>
          </a:p>
        </p:txBody>
      </p:sp>
      <p:sp>
        <p:nvSpPr>
          <p:cNvPr id="3" name="Footer Placeholder 2"/>
          <p:cNvSpPr>
            <a:spLocks noGrp="1"/>
          </p:cNvSpPr>
          <p:nvPr>
            <p:ph type="ftr" sz="quarter" idx="11"/>
          </p:nvPr>
        </p:nvSpPr>
        <p:spPr/>
        <p:txBody>
          <a:bodyPr/>
          <a:lstStyle/>
          <a:p>
            <a:endParaRPr lang="ar-SA"/>
          </a:p>
        </p:txBody>
      </p:sp>
      <p:sp>
        <p:nvSpPr>
          <p:cNvPr id="4" name="Slide Number Placeholder 3"/>
          <p:cNvSpPr>
            <a:spLocks noGrp="1"/>
          </p:cNvSpPr>
          <p:nvPr>
            <p:ph type="sldNum" sz="quarter" idx="12"/>
          </p:nvPr>
        </p:nvSpPr>
        <p:spPr/>
        <p:txBody>
          <a:bodyPr/>
          <a:lstStyle/>
          <a:p>
            <a:fld id="{0E432819-B1C9-4D2F-8F6B-911D67ACBAA2}" type="slidenum">
              <a:rPr lang="ar-SA" smtClean="0"/>
              <a:t>‹#›</a:t>
            </a:fld>
            <a:endParaRPr lang="ar-SA"/>
          </a:p>
        </p:txBody>
      </p:sp>
    </p:spTree>
    <p:extLst>
      <p:ext uri="{BB962C8B-B14F-4D97-AF65-F5344CB8AC3E}">
        <p14:creationId xmlns:p14="http://schemas.microsoft.com/office/powerpoint/2010/main" val="29242531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ar-SA"/>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40140A6-372F-426A-82F1-AC0DB7CE05F4}" type="datetimeFigureOut">
              <a:rPr lang="ar-SA" smtClean="0"/>
              <a:t>14/06/46</a:t>
            </a:fld>
            <a:endParaRPr lang="ar-SA"/>
          </a:p>
        </p:txBody>
      </p:sp>
      <p:sp>
        <p:nvSpPr>
          <p:cNvPr id="6" name="Footer Placeholder 5"/>
          <p:cNvSpPr>
            <a:spLocks noGrp="1"/>
          </p:cNvSpPr>
          <p:nvPr>
            <p:ph type="ftr" sz="quarter" idx="11"/>
          </p:nvPr>
        </p:nvSpPr>
        <p:spPr/>
        <p:txBody>
          <a:bodyPr/>
          <a:lstStyle/>
          <a:p>
            <a:endParaRPr lang="ar-SA"/>
          </a:p>
        </p:txBody>
      </p:sp>
      <p:sp>
        <p:nvSpPr>
          <p:cNvPr id="7" name="Slide Number Placeholder 6"/>
          <p:cNvSpPr>
            <a:spLocks noGrp="1"/>
          </p:cNvSpPr>
          <p:nvPr>
            <p:ph type="sldNum" sz="quarter" idx="12"/>
          </p:nvPr>
        </p:nvSpPr>
        <p:spPr/>
        <p:txBody>
          <a:bodyPr/>
          <a:lstStyle/>
          <a:p>
            <a:fld id="{0E432819-B1C9-4D2F-8F6B-911D67ACBAA2}" type="slidenum">
              <a:rPr lang="ar-SA" smtClean="0"/>
              <a:t>‹#›</a:t>
            </a:fld>
            <a:endParaRPr lang="ar-SA"/>
          </a:p>
        </p:txBody>
      </p:sp>
    </p:spTree>
    <p:extLst>
      <p:ext uri="{BB962C8B-B14F-4D97-AF65-F5344CB8AC3E}">
        <p14:creationId xmlns:p14="http://schemas.microsoft.com/office/powerpoint/2010/main" val="1493479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ar-SA"/>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S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40140A6-372F-426A-82F1-AC0DB7CE05F4}" type="datetimeFigureOut">
              <a:rPr lang="ar-SA" smtClean="0"/>
              <a:t>14/06/46</a:t>
            </a:fld>
            <a:endParaRPr lang="ar-SA"/>
          </a:p>
        </p:txBody>
      </p:sp>
      <p:sp>
        <p:nvSpPr>
          <p:cNvPr id="6" name="Footer Placeholder 5"/>
          <p:cNvSpPr>
            <a:spLocks noGrp="1"/>
          </p:cNvSpPr>
          <p:nvPr>
            <p:ph type="ftr" sz="quarter" idx="11"/>
          </p:nvPr>
        </p:nvSpPr>
        <p:spPr/>
        <p:txBody>
          <a:bodyPr/>
          <a:lstStyle/>
          <a:p>
            <a:endParaRPr lang="ar-SA"/>
          </a:p>
        </p:txBody>
      </p:sp>
      <p:sp>
        <p:nvSpPr>
          <p:cNvPr id="7" name="Slide Number Placeholder 6"/>
          <p:cNvSpPr>
            <a:spLocks noGrp="1"/>
          </p:cNvSpPr>
          <p:nvPr>
            <p:ph type="sldNum" sz="quarter" idx="12"/>
          </p:nvPr>
        </p:nvSpPr>
        <p:spPr/>
        <p:txBody>
          <a:bodyPr/>
          <a:lstStyle/>
          <a:p>
            <a:fld id="{0E432819-B1C9-4D2F-8F6B-911D67ACBAA2}" type="slidenum">
              <a:rPr lang="ar-SA" smtClean="0"/>
              <a:t>‹#›</a:t>
            </a:fld>
            <a:endParaRPr lang="ar-SA"/>
          </a:p>
        </p:txBody>
      </p:sp>
    </p:spTree>
    <p:extLst>
      <p:ext uri="{BB962C8B-B14F-4D97-AF65-F5344CB8AC3E}">
        <p14:creationId xmlns:p14="http://schemas.microsoft.com/office/powerpoint/2010/main" val="36924293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SA"/>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4" name="Date Placeholder 3"/>
          <p:cNvSpPr>
            <a:spLocks noGrp="1"/>
          </p:cNvSpPr>
          <p:nvPr>
            <p:ph type="dt" sz="half" idx="10"/>
          </p:nvPr>
        </p:nvSpPr>
        <p:spPr/>
        <p:txBody>
          <a:bodyPr/>
          <a:lstStyle/>
          <a:p>
            <a:fld id="{C40140A6-372F-426A-82F1-AC0DB7CE05F4}" type="datetimeFigureOut">
              <a:rPr lang="ar-SA" smtClean="0"/>
              <a:t>14/06/46</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0E432819-B1C9-4D2F-8F6B-911D67ACBAA2}" type="slidenum">
              <a:rPr lang="ar-SA" smtClean="0"/>
              <a:t>‹#›</a:t>
            </a:fld>
            <a:endParaRPr lang="ar-SA"/>
          </a:p>
        </p:txBody>
      </p:sp>
    </p:spTree>
    <p:extLst>
      <p:ext uri="{BB962C8B-B14F-4D97-AF65-F5344CB8AC3E}">
        <p14:creationId xmlns:p14="http://schemas.microsoft.com/office/powerpoint/2010/main" val="3006927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ar-SA"/>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4" name="Date Placeholder 3"/>
          <p:cNvSpPr>
            <a:spLocks noGrp="1"/>
          </p:cNvSpPr>
          <p:nvPr>
            <p:ph type="dt" sz="half" idx="10"/>
          </p:nvPr>
        </p:nvSpPr>
        <p:spPr/>
        <p:txBody>
          <a:bodyPr/>
          <a:lstStyle/>
          <a:p>
            <a:fld id="{C40140A6-372F-426A-82F1-AC0DB7CE05F4}" type="datetimeFigureOut">
              <a:rPr lang="ar-SA" smtClean="0"/>
              <a:t>14/06/46</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0E432819-B1C9-4D2F-8F6B-911D67ACBAA2}" type="slidenum">
              <a:rPr lang="ar-SA" smtClean="0"/>
              <a:t>‹#›</a:t>
            </a:fld>
            <a:endParaRPr lang="ar-SA"/>
          </a:p>
        </p:txBody>
      </p:sp>
    </p:spTree>
    <p:extLst>
      <p:ext uri="{BB962C8B-B14F-4D97-AF65-F5344CB8AC3E}">
        <p14:creationId xmlns:p14="http://schemas.microsoft.com/office/powerpoint/2010/main" val="30113373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ar-SA"/>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0140A6-372F-426A-82F1-AC0DB7CE05F4}" type="datetimeFigureOut">
              <a:rPr lang="ar-SA" smtClean="0"/>
              <a:t>14/06/46</a:t>
            </a:fld>
            <a:endParaRPr lang="ar-S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ar-S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432819-B1C9-4D2F-8F6B-911D67ACBAA2}" type="slidenum">
              <a:rPr lang="ar-SA" smtClean="0"/>
              <a:t>‹#›</a:t>
            </a:fld>
            <a:endParaRPr lang="ar-SA"/>
          </a:p>
        </p:txBody>
      </p:sp>
    </p:spTree>
    <p:extLst>
      <p:ext uri="{BB962C8B-B14F-4D97-AF65-F5344CB8AC3E}">
        <p14:creationId xmlns:p14="http://schemas.microsoft.com/office/powerpoint/2010/main" val="37366318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Internet Technologies</a:t>
            </a:r>
            <a:br>
              <a:rPr lang="en-US" dirty="0"/>
            </a:br>
            <a:r>
              <a:rPr lang="en-US" dirty="0"/>
              <a:t>MIS341-4</a:t>
            </a:r>
            <a:endParaRPr lang="ar-SA" dirty="0"/>
          </a:p>
        </p:txBody>
      </p:sp>
      <p:sp>
        <p:nvSpPr>
          <p:cNvPr id="3" name="Subtitle 2"/>
          <p:cNvSpPr>
            <a:spLocks noGrp="1"/>
          </p:cNvSpPr>
          <p:nvPr>
            <p:ph type="subTitle" idx="1"/>
          </p:nvPr>
        </p:nvSpPr>
        <p:spPr>
          <a:xfrm>
            <a:off x="1524000" y="3602038"/>
            <a:ext cx="9144000" cy="2590944"/>
          </a:xfrm>
        </p:spPr>
        <p:txBody>
          <a:bodyPr>
            <a:normAutofit/>
          </a:bodyPr>
          <a:lstStyle/>
          <a:p>
            <a:endParaRPr lang="en-US" sz="3600" dirty="0"/>
          </a:p>
          <a:p>
            <a:r>
              <a:rPr lang="en-US" sz="4400" dirty="0"/>
              <a:t>Chapter 8</a:t>
            </a:r>
          </a:p>
          <a:p>
            <a:endParaRPr lang="en-US" sz="1400" dirty="0"/>
          </a:p>
          <a:p>
            <a:r>
              <a:rPr lang="en-US" sz="3600" b="1" dirty="0"/>
              <a:t>Emerging Internet Technologies</a:t>
            </a:r>
            <a:endParaRPr lang="ar-SA" sz="4800" b="1" dirty="0"/>
          </a:p>
        </p:txBody>
      </p:sp>
    </p:spTree>
    <p:extLst>
      <p:ext uri="{BB962C8B-B14F-4D97-AF65-F5344CB8AC3E}">
        <p14:creationId xmlns:p14="http://schemas.microsoft.com/office/powerpoint/2010/main" val="603625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14755"/>
            <a:ext cx="1788622" cy="673966"/>
          </a:xfrm>
        </p:spPr>
        <p:txBody>
          <a:bodyPr>
            <a:normAutofit fontScale="90000"/>
          </a:bodyPr>
          <a:lstStyle/>
          <a:p>
            <a:r>
              <a:rPr lang="en-US" b="1" dirty="0"/>
              <a:t>Topics:</a:t>
            </a:r>
            <a:endParaRPr lang="ar-SA" dirty="0"/>
          </a:p>
        </p:txBody>
      </p:sp>
      <p:sp>
        <p:nvSpPr>
          <p:cNvPr id="3" name="Content Placeholder 2"/>
          <p:cNvSpPr>
            <a:spLocks noGrp="1"/>
          </p:cNvSpPr>
          <p:nvPr>
            <p:ph idx="1"/>
          </p:nvPr>
        </p:nvSpPr>
        <p:spPr>
          <a:xfrm>
            <a:off x="838200" y="1280161"/>
            <a:ext cx="9386455" cy="2864136"/>
          </a:xfrm>
        </p:spPr>
        <p:txBody>
          <a:bodyPr>
            <a:normAutofit/>
          </a:bodyPr>
          <a:lstStyle/>
          <a:p>
            <a:pPr lvl="0"/>
            <a:r>
              <a:rPr lang="en-US" dirty="0"/>
              <a:t>Internet of Things (</a:t>
            </a:r>
            <a:r>
              <a:rPr lang="en-US" dirty="0" err="1"/>
              <a:t>IoT</a:t>
            </a:r>
            <a:r>
              <a:rPr lang="en-US" dirty="0"/>
              <a:t>)</a:t>
            </a:r>
          </a:p>
          <a:p>
            <a:pPr lvl="0"/>
            <a:r>
              <a:rPr lang="en-US" dirty="0"/>
              <a:t>Web 3.0 and Decentralization</a:t>
            </a:r>
          </a:p>
          <a:p>
            <a:pPr lvl="0"/>
            <a:r>
              <a:rPr lang="en-US" dirty="0" err="1"/>
              <a:t>Blockchain</a:t>
            </a:r>
            <a:r>
              <a:rPr lang="en-US" dirty="0"/>
              <a:t> technologies</a:t>
            </a:r>
          </a:p>
          <a:p>
            <a:r>
              <a:rPr lang="en-US" dirty="0"/>
              <a:t>5G networks and implications for the Internet</a:t>
            </a:r>
          </a:p>
          <a:p>
            <a:pPr marL="0" indent="0">
              <a:buNone/>
            </a:pPr>
            <a:endParaRPr lang="ar-SA" dirty="0"/>
          </a:p>
        </p:txBody>
      </p:sp>
    </p:spTree>
    <p:extLst>
      <p:ext uri="{BB962C8B-B14F-4D97-AF65-F5344CB8AC3E}">
        <p14:creationId xmlns:p14="http://schemas.microsoft.com/office/powerpoint/2010/main" val="3450387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9585960" cy="881784"/>
          </a:xfrm>
        </p:spPr>
        <p:txBody>
          <a:bodyPr/>
          <a:lstStyle/>
          <a:p>
            <a:r>
              <a:rPr lang="en-US" b="1" dirty="0"/>
              <a:t>Internet of Things (</a:t>
            </a:r>
            <a:r>
              <a:rPr lang="en-US" b="1" dirty="0" err="1"/>
              <a:t>IoT</a:t>
            </a:r>
            <a:r>
              <a:rPr lang="en-US" b="1" dirty="0"/>
              <a:t>)</a:t>
            </a:r>
          </a:p>
        </p:txBody>
      </p:sp>
      <p:sp>
        <p:nvSpPr>
          <p:cNvPr id="3" name="Content Placeholder 2"/>
          <p:cNvSpPr>
            <a:spLocks noGrp="1"/>
          </p:cNvSpPr>
          <p:nvPr>
            <p:ph idx="1"/>
          </p:nvPr>
        </p:nvSpPr>
        <p:spPr>
          <a:xfrm>
            <a:off x="838200" y="1246910"/>
            <a:ext cx="10515600" cy="4854632"/>
          </a:xfrm>
        </p:spPr>
        <p:txBody>
          <a:bodyPr>
            <a:normAutofit fontScale="92500"/>
          </a:bodyPr>
          <a:lstStyle/>
          <a:p>
            <a:pPr algn="just"/>
            <a:r>
              <a:rPr lang="en-US" b="1" dirty="0" err="1"/>
              <a:t>IoT</a:t>
            </a:r>
            <a:r>
              <a:rPr lang="en-US" dirty="0"/>
              <a:t> refers to a network of interconnected physical devices (such as sensors, appliances, vehicles, etc.) that communicate and exchange data over the internet. These devices are embedded with electronics, software, and connectivity to collect and share data with other systems, enabling smart applications in homes, industries, healthcare, and transportation.</a:t>
            </a:r>
          </a:p>
          <a:p>
            <a:pPr lvl="0" algn="just"/>
            <a:r>
              <a:rPr lang="en-US" b="1" dirty="0"/>
              <a:t>Example</a:t>
            </a:r>
            <a:r>
              <a:rPr lang="en-US" dirty="0"/>
              <a:t>: Smart thermostats that adjust room temperature based on user preferences or wearable devices that monitor health metrics.</a:t>
            </a:r>
          </a:p>
          <a:p>
            <a:pPr lvl="0" algn="just"/>
            <a:r>
              <a:rPr lang="en-US" b="1" dirty="0"/>
              <a:t>Key Features</a:t>
            </a:r>
            <a:r>
              <a:rPr lang="en-US" dirty="0"/>
              <a:t>: Real-time data collection, remote monitoring, automation, and data-driven decision-making.</a:t>
            </a:r>
          </a:p>
          <a:p>
            <a:pPr algn="just"/>
            <a:r>
              <a:rPr lang="en-US" dirty="0" err="1"/>
              <a:t>IoT</a:t>
            </a:r>
            <a:r>
              <a:rPr lang="en-US" dirty="0"/>
              <a:t> enables smarter systems that enhance efficiency, safety, and convenience across various sectors by providing insights from connected devices.</a:t>
            </a:r>
            <a:endParaRPr lang="ar-SA" dirty="0"/>
          </a:p>
        </p:txBody>
      </p:sp>
    </p:spTree>
    <p:extLst>
      <p:ext uri="{BB962C8B-B14F-4D97-AF65-F5344CB8AC3E}">
        <p14:creationId xmlns:p14="http://schemas.microsoft.com/office/powerpoint/2010/main" val="115775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1124" y="283930"/>
            <a:ext cx="10515600" cy="1325563"/>
          </a:xfrm>
        </p:spPr>
        <p:txBody>
          <a:bodyPr/>
          <a:lstStyle/>
          <a:p>
            <a:r>
              <a:rPr lang="en-US" b="1" dirty="0"/>
              <a:t>Internet of Things (</a:t>
            </a:r>
            <a:r>
              <a:rPr lang="en-US" b="1" dirty="0" err="1"/>
              <a:t>IoT</a:t>
            </a:r>
            <a:r>
              <a:rPr lang="en-US" b="1" dirty="0"/>
              <a:t>)</a:t>
            </a:r>
            <a:endParaRPr lang="ar-SA" dirty="0"/>
          </a:p>
        </p:txBody>
      </p:sp>
      <p:pic>
        <p:nvPicPr>
          <p:cNvPr id="4" name="Content Placeholder 3"/>
          <p:cNvPicPr>
            <a:picLocks noGrp="1" noChangeAspect="1"/>
          </p:cNvPicPr>
          <p:nvPr>
            <p:ph idx="1"/>
          </p:nvPr>
        </p:nvPicPr>
        <p:blipFill>
          <a:blip r:embed="rId2"/>
          <a:stretch>
            <a:fillRect/>
          </a:stretch>
        </p:blipFill>
        <p:spPr>
          <a:xfrm>
            <a:off x="2038059" y="1609493"/>
            <a:ext cx="7749191" cy="4567470"/>
          </a:xfrm>
          <a:prstGeom prst="rect">
            <a:avLst/>
          </a:prstGeom>
        </p:spPr>
      </p:pic>
    </p:spTree>
    <p:extLst>
      <p:ext uri="{BB962C8B-B14F-4D97-AF65-F5344CB8AC3E}">
        <p14:creationId xmlns:p14="http://schemas.microsoft.com/office/powerpoint/2010/main" val="2613790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6"/>
            <a:ext cx="7133705" cy="757092"/>
          </a:xfrm>
        </p:spPr>
        <p:txBody>
          <a:bodyPr>
            <a:normAutofit/>
          </a:bodyPr>
          <a:lstStyle/>
          <a:p>
            <a:r>
              <a:rPr lang="en-US" b="1" dirty="0"/>
              <a:t>Web 3.0 and Decentralization:</a:t>
            </a:r>
          </a:p>
        </p:txBody>
      </p:sp>
      <p:sp>
        <p:nvSpPr>
          <p:cNvPr id="3" name="Content Placeholder 2"/>
          <p:cNvSpPr>
            <a:spLocks noGrp="1"/>
          </p:cNvSpPr>
          <p:nvPr>
            <p:ph idx="1"/>
          </p:nvPr>
        </p:nvSpPr>
        <p:spPr>
          <a:xfrm>
            <a:off x="838200" y="1218796"/>
            <a:ext cx="10417233" cy="4724804"/>
          </a:xfrm>
        </p:spPr>
        <p:txBody>
          <a:bodyPr>
            <a:normAutofit fontScale="92500" lnSpcReduction="20000"/>
          </a:bodyPr>
          <a:lstStyle/>
          <a:p>
            <a:pPr algn="just"/>
            <a:r>
              <a:rPr lang="en-US" b="1" dirty="0"/>
              <a:t>Web 3.0</a:t>
            </a:r>
            <a:r>
              <a:rPr lang="en-US" dirty="0"/>
              <a:t> is the next phase of the internet, focused on creating a decentralized web where data and services are not controlled by a few large companies but distributed across a network of users. It leverages </a:t>
            </a:r>
            <a:r>
              <a:rPr lang="en-US" dirty="0" err="1"/>
              <a:t>blockchain</a:t>
            </a:r>
            <a:r>
              <a:rPr lang="en-US" dirty="0"/>
              <a:t> technology to create decentralized applications (</a:t>
            </a:r>
            <a:r>
              <a:rPr lang="en-US" dirty="0" err="1"/>
              <a:t>dApps</a:t>
            </a:r>
            <a:r>
              <a:rPr lang="en-US" dirty="0"/>
              <a:t>), offering greater privacy, transparency, and user control over data.</a:t>
            </a:r>
          </a:p>
          <a:p>
            <a:pPr lvl="0" algn="just"/>
            <a:r>
              <a:rPr lang="en-US" b="1" dirty="0"/>
              <a:t>Decentralization</a:t>
            </a:r>
            <a:r>
              <a:rPr lang="en-US" dirty="0"/>
              <a:t>: Refers to the removal of central authorities in data management and control. Instead of data being held by central entities (e.g., Google or Facebook), it is distributed across a </a:t>
            </a:r>
            <a:r>
              <a:rPr lang="en-US" dirty="0" err="1"/>
              <a:t>blockchain</a:t>
            </a:r>
            <a:r>
              <a:rPr lang="en-US" dirty="0"/>
              <a:t>, giving users ownership and control.</a:t>
            </a:r>
          </a:p>
          <a:p>
            <a:pPr lvl="0" algn="just"/>
            <a:r>
              <a:rPr lang="en-US" b="1" dirty="0"/>
              <a:t>Example</a:t>
            </a:r>
            <a:r>
              <a:rPr lang="en-US" dirty="0"/>
              <a:t>: Decentralized finance (</a:t>
            </a:r>
            <a:r>
              <a:rPr lang="en-US" dirty="0" err="1"/>
              <a:t>DeFi</a:t>
            </a:r>
            <a:r>
              <a:rPr lang="en-US" dirty="0"/>
              <a:t>) applications where users can conduct financial transactions without banks or intermediaries.</a:t>
            </a:r>
          </a:p>
          <a:p>
            <a:pPr algn="just"/>
            <a:r>
              <a:rPr lang="en-US" dirty="0"/>
              <a:t>Web 3.0 promises a more user-centric internet with trustless interactions, where </a:t>
            </a:r>
            <a:r>
              <a:rPr lang="en-US" dirty="0" err="1"/>
              <a:t>blockchain</a:t>
            </a:r>
            <a:r>
              <a:rPr lang="en-US" dirty="0"/>
              <a:t> ensures secure and transparent transactions without intermediaries</a:t>
            </a:r>
            <a:endParaRPr lang="ar-SA" dirty="0"/>
          </a:p>
        </p:txBody>
      </p:sp>
    </p:spTree>
    <p:extLst>
      <p:ext uri="{BB962C8B-B14F-4D97-AF65-F5344CB8AC3E}">
        <p14:creationId xmlns:p14="http://schemas.microsoft.com/office/powerpoint/2010/main" val="2559617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Web 3.0 and Decentralization:</a:t>
            </a:r>
            <a:endParaRPr lang="ar-SA" dirty="0"/>
          </a:p>
        </p:txBody>
      </p:sp>
      <p:sp>
        <p:nvSpPr>
          <p:cNvPr id="5" name="Rectangle 4"/>
          <p:cNvSpPr/>
          <p:nvPr/>
        </p:nvSpPr>
        <p:spPr>
          <a:xfrm>
            <a:off x="838200" y="1523877"/>
            <a:ext cx="5146964" cy="369332"/>
          </a:xfrm>
          <a:prstGeom prst="rect">
            <a:avLst/>
          </a:prstGeom>
        </p:spPr>
        <p:txBody>
          <a:bodyPr wrap="square">
            <a:spAutoFit/>
          </a:bodyPr>
          <a:lstStyle/>
          <a:p>
            <a:r>
              <a:rPr lang="en-US" dirty="0"/>
              <a:t>.</a:t>
            </a:r>
            <a:endParaRPr lang="ar-SA" dirty="0"/>
          </a:p>
        </p:txBody>
      </p:sp>
      <p:pic>
        <p:nvPicPr>
          <p:cNvPr id="6" name="Content Placeholder 5"/>
          <p:cNvPicPr>
            <a:picLocks noGrp="1" noChangeAspect="1"/>
          </p:cNvPicPr>
          <p:nvPr>
            <p:ph idx="1"/>
          </p:nvPr>
        </p:nvPicPr>
        <p:blipFill>
          <a:blip r:embed="rId2"/>
          <a:stretch>
            <a:fillRect/>
          </a:stretch>
        </p:blipFill>
        <p:spPr>
          <a:xfrm>
            <a:off x="2069869" y="1566653"/>
            <a:ext cx="7624003" cy="4610310"/>
          </a:xfrm>
          <a:prstGeom prst="rect">
            <a:avLst/>
          </a:prstGeom>
        </p:spPr>
      </p:pic>
    </p:spTree>
    <p:extLst>
      <p:ext uri="{BB962C8B-B14F-4D97-AF65-F5344CB8AC3E}">
        <p14:creationId xmlns:p14="http://schemas.microsoft.com/office/powerpoint/2010/main" val="3475489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219305" cy="865159"/>
          </a:xfrm>
        </p:spPr>
        <p:txBody>
          <a:bodyPr>
            <a:normAutofit/>
          </a:bodyPr>
          <a:lstStyle/>
          <a:p>
            <a:r>
              <a:rPr lang="en-US" sz="4000" b="1" dirty="0" err="1"/>
              <a:t>Blockchain</a:t>
            </a:r>
            <a:r>
              <a:rPr lang="en-US" sz="4000" b="1" dirty="0"/>
              <a:t> Technologies:</a:t>
            </a:r>
          </a:p>
        </p:txBody>
      </p:sp>
      <p:sp>
        <p:nvSpPr>
          <p:cNvPr id="3" name="Content Placeholder 2"/>
          <p:cNvSpPr>
            <a:spLocks noGrp="1"/>
          </p:cNvSpPr>
          <p:nvPr>
            <p:ph idx="1"/>
          </p:nvPr>
        </p:nvSpPr>
        <p:spPr>
          <a:xfrm>
            <a:off x="838200" y="1526367"/>
            <a:ext cx="10515600" cy="4351338"/>
          </a:xfrm>
        </p:spPr>
        <p:txBody>
          <a:bodyPr>
            <a:normAutofit fontScale="92500" lnSpcReduction="10000"/>
          </a:bodyPr>
          <a:lstStyle/>
          <a:p>
            <a:pPr algn="just"/>
            <a:r>
              <a:rPr lang="en-US" b="1" dirty="0" err="1"/>
              <a:t>Blockchain</a:t>
            </a:r>
            <a:r>
              <a:rPr lang="en-US" dirty="0"/>
              <a:t> is a distributed ledger technology that records transactions in blocks, which are linked together in a chain. It provides a secure, transparent, and tamper-proof system for recording data, making it ideal for applications like cryptocurrency (e.g., Bitcoin), smart contracts, and decentralized applications.</a:t>
            </a:r>
          </a:p>
          <a:p>
            <a:pPr lvl="0" algn="just"/>
            <a:r>
              <a:rPr lang="en-US" b="1" dirty="0"/>
              <a:t>Key Features</a:t>
            </a:r>
            <a:r>
              <a:rPr lang="en-US" dirty="0"/>
              <a:t>: Immutable data records, decentralized control, and cryptographic security.</a:t>
            </a:r>
          </a:p>
          <a:p>
            <a:pPr lvl="0" algn="just"/>
            <a:r>
              <a:rPr lang="en-US" b="1" dirty="0"/>
              <a:t>Applications</a:t>
            </a:r>
            <a:r>
              <a:rPr lang="en-US" dirty="0"/>
              <a:t>: </a:t>
            </a:r>
            <a:r>
              <a:rPr lang="en-US" dirty="0" err="1"/>
              <a:t>Blockchain</a:t>
            </a:r>
            <a:r>
              <a:rPr lang="en-US" dirty="0"/>
              <a:t> is widely used in cryptocurrency, supply chain management, digital identity verification, and voting systems.</a:t>
            </a:r>
          </a:p>
          <a:p>
            <a:pPr algn="just"/>
            <a:r>
              <a:rPr lang="en-US" dirty="0" err="1"/>
              <a:t>Blockchain</a:t>
            </a:r>
            <a:r>
              <a:rPr lang="en-US" dirty="0"/>
              <a:t> eliminates the need for intermediaries by providing a trustless, secure, and transparent way to store and verify data.</a:t>
            </a:r>
          </a:p>
          <a:p>
            <a:endParaRPr lang="ar-SA" dirty="0"/>
          </a:p>
        </p:txBody>
      </p:sp>
    </p:spTree>
    <p:extLst>
      <p:ext uri="{BB962C8B-B14F-4D97-AF65-F5344CB8AC3E}">
        <p14:creationId xmlns:p14="http://schemas.microsoft.com/office/powerpoint/2010/main" val="1992397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552709" cy="964911"/>
          </a:xfrm>
        </p:spPr>
        <p:txBody>
          <a:bodyPr/>
          <a:lstStyle/>
          <a:p>
            <a:r>
              <a:rPr lang="en-US" b="1" dirty="0" err="1"/>
              <a:t>Blockchain</a:t>
            </a:r>
            <a:r>
              <a:rPr lang="en-US" b="1" dirty="0"/>
              <a:t>:</a:t>
            </a:r>
            <a:endParaRPr lang="ar-SA" dirty="0"/>
          </a:p>
        </p:txBody>
      </p:sp>
      <p:pic>
        <p:nvPicPr>
          <p:cNvPr id="4" name="Content Placeholder 3"/>
          <p:cNvPicPr>
            <a:picLocks noGrp="1" noChangeAspect="1"/>
          </p:cNvPicPr>
          <p:nvPr>
            <p:ph idx="1"/>
          </p:nvPr>
        </p:nvPicPr>
        <p:blipFill>
          <a:blip r:embed="rId2"/>
          <a:stretch>
            <a:fillRect/>
          </a:stretch>
        </p:blipFill>
        <p:spPr>
          <a:xfrm>
            <a:off x="2128059" y="1576270"/>
            <a:ext cx="7527876" cy="4600693"/>
          </a:xfrm>
          <a:prstGeom prst="rect">
            <a:avLst/>
          </a:prstGeom>
        </p:spPr>
      </p:pic>
    </p:spTree>
    <p:extLst>
      <p:ext uri="{BB962C8B-B14F-4D97-AF65-F5344CB8AC3E}">
        <p14:creationId xmlns:p14="http://schemas.microsoft.com/office/powerpoint/2010/main" val="15298450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15282"/>
          </a:xfrm>
        </p:spPr>
        <p:txBody>
          <a:bodyPr/>
          <a:lstStyle/>
          <a:p>
            <a:r>
              <a:rPr lang="en-US" b="1" dirty="0"/>
              <a:t>5G Networks and Implications for the Internet</a:t>
            </a:r>
            <a:endParaRPr lang="ar-SA" dirty="0"/>
          </a:p>
        </p:txBody>
      </p:sp>
      <p:sp>
        <p:nvSpPr>
          <p:cNvPr id="3" name="Content Placeholder 2"/>
          <p:cNvSpPr>
            <a:spLocks noGrp="1"/>
          </p:cNvSpPr>
          <p:nvPr>
            <p:ph idx="1"/>
          </p:nvPr>
        </p:nvSpPr>
        <p:spPr>
          <a:xfrm>
            <a:off x="838200" y="1180408"/>
            <a:ext cx="10515600" cy="4996555"/>
          </a:xfrm>
        </p:spPr>
        <p:txBody>
          <a:bodyPr>
            <a:normAutofit fontScale="92500"/>
          </a:bodyPr>
          <a:lstStyle/>
          <a:p>
            <a:pPr algn="just"/>
            <a:r>
              <a:rPr lang="en-US" b="1" dirty="0"/>
              <a:t>5G</a:t>
            </a:r>
            <a:r>
              <a:rPr lang="en-US" dirty="0"/>
              <a:t> is the fifth generation of wireless communication technology, offering significantly faster data speeds, lower latency, and higher bandwidth compared to its predecessor, 4G. It supports a wider range of devices and allows for real-time communication between devices.</a:t>
            </a:r>
          </a:p>
          <a:p>
            <a:pPr lvl="0" algn="just"/>
            <a:r>
              <a:rPr lang="en-US" b="1" dirty="0"/>
              <a:t>Implications for the Internet</a:t>
            </a:r>
            <a:r>
              <a:rPr lang="en-US" dirty="0"/>
              <a:t>:</a:t>
            </a:r>
          </a:p>
          <a:p>
            <a:pPr lvl="1" algn="just"/>
            <a:r>
              <a:rPr lang="en-US" b="1" dirty="0" err="1"/>
              <a:t>IoT</a:t>
            </a:r>
            <a:r>
              <a:rPr lang="en-US" b="1" dirty="0"/>
              <a:t> growth</a:t>
            </a:r>
            <a:r>
              <a:rPr lang="en-US" dirty="0"/>
              <a:t>: 5G enables the massive deployment of </a:t>
            </a:r>
            <a:r>
              <a:rPr lang="en-US" dirty="0" err="1"/>
              <a:t>IoT</a:t>
            </a:r>
            <a:r>
              <a:rPr lang="en-US" dirty="0"/>
              <a:t> devices, supporting a vast number of connections simultaneously.</a:t>
            </a:r>
          </a:p>
          <a:p>
            <a:pPr lvl="1" algn="just"/>
            <a:r>
              <a:rPr lang="en-US" b="1" dirty="0"/>
              <a:t>Edge computing</a:t>
            </a:r>
            <a:r>
              <a:rPr lang="en-US" dirty="0"/>
              <a:t>: 5G facilitates edge computing, where data is processed closer to the source, reducing latency and improving response times.</a:t>
            </a:r>
          </a:p>
          <a:p>
            <a:pPr lvl="1" algn="just"/>
            <a:r>
              <a:rPr lang="en-US" b="1" dirty="0"/>
              <a:t>Autonomous systems</a:t>
            </a:r>
            <a:r>
              <a:rPr lang="en-US" dirty="0"/>
              <a:t>: 5G is essential for applications like self-driving cars and smart cities, where low latency and high reliability are critical.</a:t>
            </a:r>
          </a:p>
          <a:p>
            <a:pPr algn="just"/>
            <a:r>
              <a:rPr lang="en-US" dirty="0"/>
              <a:t>The rollout of 5G will dramatically enhance internet capabilities, leading to new applications in healthcare, transportation, gaming, and entertainment.</a:t>
            </a:r>
          </a:p>
          <a:p>
            <a:endParaRPr lang="ar-SA" dirty="0"/>
          </a:p>
        </p:txBody>
      </p:sp>
    </p:spTree>
    <p:extLst>
      <p:ext uri="{BB962C8B-B14F-4D97-AF65-F5344CB8AC3E}">
        <p14:creationId xmlns:p14="http://schemas.microsoft.com/office/powerpoint/2010/main" val="18119153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5G Networks and Implications for the Internet</a:t>
            </a:r>
            <a:endParaRPr lang="ar-SA" dirty="0"/>
          </a:p>
        </p:txBody>
      </p:sp>
      <p:pic>
        <p:nvPicPr>
          <p:cNvPr id="6" name="Content Placeholder 5"/>
          <p:cNvPicPr>
            <a:picLocks noGrp="1" noChangeAspect="1"/>
          </p:cNvPicPr>
          <p:nvPr>
            <p:ph idx="1"/>
          </p:nvPr>
        </p:nvPicPr>
        <p:blipFill>
          <a:blip r:embed="rId2"/>
          <a:stretch>
            <a:fillRect/>
          </a:stretch>
        </p:blipFill>
        <p:spPr>
          <a:xfrm>
            <a:off x="2751514" y="1738222"/>
            <a:ext cx="6791498" cy="4595519"/>
          </a:xfrm>
          <a:prstGeom prst="rect">
            <a:avLst/>
          </a:prstGeom>
        </p:spPr>
      </p:pic>
    </p:spTree>
    <p:extLst>
      <p:ext uri="{BB962C8B-B14F-4D97-AF65-F5344CB8AC3E}">
        <p14:creationId xmlns:p14="http://schemas.microsoft.com/office/powerpoint/2010/main" val="37720485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193</TotalTime>
  <Words>588</Words>
  <Application>Microsoft Office PowerPoint</Application>
  <PresentationFormat>شاشة عريضة</PresentationFormat>
  <Paragraphs>37</Paragraphs>
  <Slides>10</Slides>
  <Notes>0</Notes>
  <HiddenSlides>0</HiddenSlides>
  <MMClips>0</MMClips>
  <ScaleCrop>false</ScaleCrop>
  <HeadingPairs>
    <vt:vector size="6" baseType="variant">
      <vt:variant>
        <vt:lpstr>الخطوط المستخدمة</vt:lpstr>
      </vt:variant>
      <vt:variant>
        <vt:i4>3</vt:i4>
      </vt:variant>
      <vt:variant>
        <vt:lpstr>نسق</vt:lpstr>
      </vt:variant>
      <vt:variant>
        <vt:i4>1</vt:i4>
      </vt:variant>
      <vt:variant>
        <vt:lpstr>عناوين الشرائح</vt:lpstr>
      </vt:variant>
      <vt:variant>
        <vt:i4>10</vt:i4>
      </vt:variant>
    </vt:vector>
  </HeadingPairs>
  <TitlesOfParts>
    <vt:vector size="14" baseType="lpstr">
      <vt:lpstr>Arial</vt:lpstr>
      <vt:lpstr>Calibri</vt:lpstr>
      <vt:lpstr>Calibri Light</vt:lpstr>
      <vt:lpstr>Office Theme</vt:lpstr>
      <vt:lpstr>Internet Technologies MIS341-4</vt:lpstr>
      <vt:lpstr>Topics:</vt:lpstr>
      <vt:lpstr>Internet of Things (IoT)</vt:lpstr>
      <vt:lpstr>Internet of Things (IoT)</vt:lpstr>
      <vt:lpstr>Web 3.0 and Decentralization:</vt:lpstr>
      <vt:lpstr>Web 3.0 and Decentralization:</vt:lpstr>
      <vt:lpstr>Blockchain Technologies:</vt:lpstr>
      <vt:lpstr>Blockchain:</vt:lpstr>
      <vt:lpstr>5G Networks and Implications for the Internet</vt:lpstr>
      <vt:lpstr>5G Networks and Implications for the Internet</vt:lpstr>
    </vt:vector>
  </TitlesOfParts>
  <Company>KING KHALID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 Technologies</dc:title>
  <dc:creator>MUHAMMAD DILDAR</dc:creator>
  <cp:lastModifiedBy>omer ltag</cp:lastModifiedBy>
  <cp:revision>27</cp:revision>
  <dcterms:created xsi:type="dcterms:W3CDTF">2022-12-13T07:08:36Z</dcterms:created>
  <dcterms:modified xsi:type="dcterms:W3CDTF">2024-12-15T09:27:34Z</dcterms:modified>
</cp:coreProperties>
</file>
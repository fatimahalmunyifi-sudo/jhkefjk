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نمط متوسط 2 - تميي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5" d="100"/>
          <a:sy n="95" d="100"/>
        </p:scale>
        <p:origin x="163"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er ltag" userId="83a4243e0f7a2aa8" providerId="LiveId" clId="{C4A21CE6-B360-48E9-A67B-84F2A558E450}"/>
    <pc:docChg chg="undo redo custSel modSld">
      <pc:chgData name="omer ltag" userId="83a4243e0f7a2aa8" providerId="LiveId" clId="{C4A21CE6-B360-48E9-A67B-84F2A558E450}" dt="2025-02-23T09:40:27.724" v="11" actId="1076"/>
      <pc:docMkLst>
        <pc:docMk/>
      </pc:docMkLst>
      <pc:sldChg chg="modSp mod">
        <pc:chgData name="omer ltag" userId="83a4243e0f7a2aa8" providerId="LiveId" clId="{C4A21CE6-B360-48E9-A67B-84F2A558E450}" dt="2025-02-23T09:40:27.724" v="11" actId="1076"/>
        <pc:sldMkLst>
          <pc:docMk/>
          <pc:sldMk cId="1261296788" sldId="261"/>
        </pc:sldMkLst>
        <pc:spChg chg="mod">
          <ac:chgData name="omer ltag" userId="83a4243e0f7a2aa8" providerId="LiveId" clId="{C4A21CE6-B360-48E9-A67B-84F2A558E450}" dt="2025-02-23T09:39:02.033" v="6" actId="1076"/>
          <ac:spMkLst>
            <pc:docMk/>
            <pc:sldMk cId="1261296788" sldId="261"/>
            <ac:spMk id="2" creationId="{00000000-0000-0000-0000-000000000000}"/>
          </ac:spMkLst>
        </pc:spChg>
        <pc:spChg chg="mod">
          <ac:chgData name="omer ltag" userId="83a4243e0f7a2aa8" providerId="LiveId" clId="{C4A21CE6-B360-48E9-A67B-84F2A558E450}" dt="2025-02-23T09:40:27.724" v="11" actId="1076"/>
          <ac:spMkLst>
            <pc:docMk/>
            <pc:sldMk cId="1261296788" sldId="261"/>
            <ac:spMk id="3" creationId="{00000000-0000-0000-0000-000000000000}"/>
          </ac:spMkLst>
        </pc:spChg>
      </pc:sldChg>
    </pc:docChg>
  </pc:docChgLst>
  <pc:docChgLst>
    <pc:chgData name="Raghad Asiri" userId="02591a92edc1e609" providerId="LiveId" clId="{5ABD40AC-3329-4C49-A45B-EE3FAD5EFCEC}"/>
    <pc:docChg chg="custSel addSld modSld sldOrd">
      <pc:chgData name="Raghad Asiri" userId="02591a92edc1e609" providerId="LiveId" clId="{5ABD40AC-3329-4C49-A45B-EE3FAD5EFCEC}" dt="2024-09-14T15:12:36.874" v="29"/>
      <pc:docMkLst>
        <pc:docMk/>
      </pc:docMkLst>
      <pc:sldChg chg="modSp ord">
        <pc:chgData name="Raghad Asiri" userId="02591a92edc1e609" providerId="LiveId" clId="{5ABD40AC-3329-4C49-A45B-EE3FAD5EFCEC}" dt="2024-09-14T15:12:36.874" v="29"/>
        <pc:sldMkLst>
          <pc:docMk/>
          <pc:sldMk cId="603625458" sldId="256"/>
        </pc:sldMkLst>
      </pc:sldChg>
      <pc:sldChg chg="modSp">
        <pc:chgData name="Raghad Asiri" userId="02591a92edc1e609" providerId="LiveId" clId="{5ABD40AC-3329-4C49-A45B-EE3FAD5EFCEC}" dt="2024-09-14T14:49:39.014" v="0"/>
        <pc:sldMkLst>
          <pc:docMk/>
          <pc:sldMk cId="505428391" sldId="257"/>
        </pc:sldMkLst>
      </pc:sldChg>
      <pc:sldChg chg="modSp">
        <pc:chgData name="Raghad Asiri" userId="02591a92edc1e609" providerId="LiveId" clId="{5ABD40AC-3329-4C49-A45B-EE3FAD5EFCEC}" dt="2024-09-14T14:49:39.014" v="0"/>
        <pc:sldMkLst>
          <pc:docMk/>
          <pc:sldMk cId="4246051266" sldId="258"/>
        </pc:sldMkLst>
      </pc:sldChg>
      <pc:sldChg chg="modSp">
        <pc:chgData name="Raghad Asiri" userId="02591a92edc1e609" providerId="LiveId" clId="{5ABD40AC-3329-4C49-A45B-EE3FAD5EFCEC}" dt="2024-09-14T14:49:39.014" v="0"/>
        <pc:sldMkLst>
          <pc:docMk/>
          <pc:sldMk cId="3837220228" sldId="259"/>
        </pc:sldMkLst>
      </pc:sldChg>
      <pc:sldChg chg="modSp">
        <pc:chgData name="Raghad Asiri" userId="02591a92edc1e609" providerId="LiveId" clId="{5ABD40AC-3329-4C49-A45B-EE3FAD5EFCEC}" dt="2024-09-14T14:49:39.014" v="0"/>
        <pc:sldMkLst>
          <pc:docMk/>
          <pc:sldMk cId="838393654" sldId="260"/>
        </pc:sldMkLst>
      </pc:sldChg>
      <pc:sldChg chg="modSp mod">
        <pc:chgData name="Raghad Asiri" userId="02591a92edc1e609" providerId="LiveId" clId="{5ABD40AC-3329-4C49-A45B-EE3FAD5EFCEC}" dt="2024-09-14T14:49:39.172" v="1" actId="27636"/>
        <pc:sldMkLst>
          <pc:docMk/>
          <pc:sldMk cId="1261296788" sldId="261"/>
        </pc:sldMkLst>
      </pc:sldChg>
      <pc:sldChg chg="modSp mod">
        <pc:chgData name="Raghad Asiri" userId="02591a92edc1e609" providerId="LiveId" clId="{5ABD40AC-3329-4C49-A45B-EE3FAD5EFCEC}" dt="2024-09-14T14:49:39.197" v="2" actId="27636"/>
        <pc:sldMkLst>
          <pc:docMk/>
          <pc:sldMk cId="3189638063" sldId="262"/>
        </pc:sldMkLst>
      </pc:sldChg>
      <pc:sldChg chg="modSp">
        <pc:chgData name="Raghad Asiri" userId="02591a92edc1e609" providerId="LiveId" clId="{5ABD40AC-3329-4C49-A45B-EE3FAD5EFCEC}" dt="2024-09-14T14:49:39.014" v="0"/>
        <pc:sldMkLst>
          <pc:docMk/>
          <pc:sldMk cId="3499536271" sldId="263"/>
        </pc:sldMkLst>
      </pc:sldChg>
      <pc:sldChg chg="modSp mod">
        <pc:chgData name="Raghad Asiri" userId="02591a92edc1e609" providerId="LiveId" clId="{5ABD40AC-3329-4C49-A45B-EE3FAD5EFCEC}" dt="2024-09-14T14:49:39.255" v="3" actId="27636"/>
        <pc:sldMkLst>
          <pc:docMk/>
          <pc:sldMk cId="3974141408" sldId="264"/>
        </pc:sldMkLst>
      </pc:sldChg>
      <pc:sldChg chg="modSp">
        <pc:chgData name="Raghad Asiri" userId="02591a92edc1e609" providerId="LiveId" clId="{5ABD40AC-3329-4C49-A45B-EE3FAD5EFCEC}" dt="2024-09-14T14:49:39.014" v="0"/>
        <pc:sldMkLst>
          <pc:docMk/>
          <pc:sldMk cId="2424881384" sldId="265"/>
        </pc:sldMkLst>
      </pc:sldChg>
      <pc:sldChg chg="modSp">
        <pc:chgData name="Raghad Asiri" userId="02591a92edc1e609" providerId="LiveId" clId="{5ABD40AC-3329-4C49-A45B-EE3FAD5EFCEC}" dt="2024-09-14T14:49:39.014" v="0"/>
        <pc:sldMkLst>
          <pc:docMk/>
          <pc:sldMk cId="1934965629" sldId="266"/>
        </pc:sldMkLst>
      </pc:sldChg>
      <pc:sldChg chg="modSp mod">
        <pc:chgData name="Raghad Asiri" userId="02591a92edc1e609" providerId="LiveId" clId="{5ABD40AC-3329-4C49-A45B-EE3FAD5EFCEC}" dt="2024-09-14T14:58:57.997" v="22" actId="113"/>
        <pc:sldMkLst>
          <pc:docMk/>
          <pc:sldMk cId="4049303889" sldId="267"/>
        </pc:sldMkLst>
      </pc:sldChg>
      <pc:sldChg chg="modSp">
        <pc:chgData name="Raghad Asiri" userId="02591a92edc1e609" providerId="LiveId" clId="{5ABD40AC-3329-4C49-A45B-EE3FAD5EFCEC}" dt="2024-09-14T14:49:39.014" v="0"/>
        <pc:sldMkLst>
          <pc:docMk/>
          <pc:sldMk cId="4157752293" sldId="268"/>
        </pc:sldMkLst>
      </pc:sldChg>
      <pc:sldChg chg="modSp">
        <pc:chgData name="Raghad Asiri" userId="02591a92edc1e609" providerId="LiveId" clId="{5ABD40AC-3329-4C49-A45B-EE3FAD5EFCEC}" dt="2024-09-14T14:49:39.014" v="0"/>
        <pc:sldMkLst>
          <pc:docMk/>
          <pc:sldMk cId="4000110095" sldId="269"/>
        </pc:sldMkLst>
      </pc:sldChg>
      <pc:sldChg chg="addSp delSp modSp add mod">
        <pc:chgData name="Raghad Asiri" userId="02591a92edc1e609" providerId="LiveId" clId="{5ABD40AC-3329-4C49-A45B-EE3FAD5EFCEC}" dt="2024-09-14T15:00:25.524" v="27" actId="12385"/>
        <pc:sldMkLst>
          <pc:docMk/>
          <pc:sldMk cId="3994838265"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1FD380-C6BF-416A-9C02-84D475EB5F8B}" type="datetimeFigureOut">
              <a:rPr lang="en-US" smtClean="0"/>
              <a:pPr/>
              <a:t>2/23/2025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43DA507-D44D-4AD6-88A1-2BA1C14B1CB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شريحة عنوان">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ar-SA"/>
              <a:t>انقر لتحرير نمط عنوان الشكل الرئيسي</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ar-SA"/>
              <a:t>انقر لتحرير نمط العنوان الفرعي للشكل الرئيسي</a:t>
            </a:r>
            <a:endParaRPr lang="en-US" dirty="0"/>
          </a:p>
        </p:txBody>
      </p:sp>
      <p:sp>
        <p:nvSpPr>
          <p:cNvPr id="4" name="Date Placeholder 3"/>
          <p:cNvSpPr>
            <a:spLocks noGrp="1"/>
          </p:cNvSpPr>
          <p:nvPr>
            <p:ph type="dt" sz="half" idx="10"/>
          </p:nvPr>
        </p:nvSpPr>
        <p:spPr/>
        <p:txBody>
          <a:bodyPr/>
          <a:lstStyle>
            <a:lvl1pPr algn="l">
              <a:defRPr/>
            </a:lvl1pPr>
          </a:lstStyle>
          <a:p>
            <a:fld id="{810D65AE-4CA8-4222-A0B6-6E3B3C5314AC}" type="datetime1">
              <a:rPr lang="ar-SA" smtClean="0"/>
              <a:pPr/>
              <a:t>25/08/46</a:t>
            </a:fld>
            <a:endParaRPr lang="ar-SA"/>
          </a:p>
        </p:txBody>
      </p:sp>
      <p:sp>
        <p:nvSpPr>
          <p:cNvPr id="5" name="Footer Placeholder 4"/>
          <p:cNvSpPr>
            <a:spLocks noGrp="1"/>
          </p:cNvSpPr>
          <p:nvPr>
            <p:ph type="ftr" sz="quarter" idx="11"/>
          </p:nvPr>
        </p:nvSpPr>
        <p:spPr/>
        <p:txBody>
          <a:bodyPr/>
          <a:lstStyle/>
          <a:p>
            <a:r>
              <a:rPr lang="en-US"/>
              <a:t>Internet Technologies - Chapter 1</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a:t>
            </a:fld>
            <a:endParaRPr lang="ar-SA"/>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5824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810D65AE-4CA8-4222-A0B6-6E3B3C5314AC}" type="datetime1">
              <a:rPr lang="ar-SA" smtClean="0"/>
              <a:pPr/>
              <a:t>25/08/46</a:t>
            </a:fld>
            <a:endParaRPr lang="ar-SA"/>
          </a:p>
        </p:txBody>
      </p:sp>
      <p:sp>
        <p:nvSpPr>
          <p:cNvPr id="5" name="Footer Placeholder 4"/>
          <p:cNvSpPr>
            <a:spLocks noGrp="1"/>
          </p:cNvSpPr>
          <p:nvPr>
            <p:ph type="ftr" sz="quarter" idx="11"/>
          </p:nvPr>
        </p:nvSpPr>
        <p:spPr/>
        <p:txBody>
          <a:bodyPr/>
          <a:lstStyle/>
          <a:p>
            <a:r>
              <a:rPr lang="en-US"/>
              <a:t>Internet Technologies - Chapter 1</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2017250911"/>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عنوان المقطع">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810D65AE-4CA8-4222-A0B6-6E3B3C5314AC}" type="datetime1">
              <a:rPr lang="ar-SA" smtClean="0"/>
              <a:pPr/>
              <a:t>25/08/46</a:t>
            </a:fld>
            <a:endParaRPr lang="ar-SA"/>
          </a:p>
        </p:txBody>
      </p:sp>
      <p:sp>
        <p:nvSpPr>
          <p:cNvPr id="5" name="Footer Placeholder 4"/>
          <p:cNvSpPr>
            <a:spLocks noGrp="1"/>
          </p:cNvSpPr>
          <p:nvPr>
            <p:ph type="ftr" sz="quarter" idx="11"/>
          </p:nvPr>
        </p:nvSpPr>
        <p:spPr/>
        <p:txBody>
          <a:bodyPr/>
          <a:lstStyle/>
          <a:p>
            <a:r>
              <a:rPr lang="en-US"/>
              <a:t>Internet Technologies - Chapter 1</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a:t>
            </a:fld>
            <a:endParaRPr lang="ar-SA"/>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1814683"/>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ar-SA"/>
              <a:t>انقر لتحرير نمط عنوان الشكل الرئيسي</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p:txBody>
          <a:bodyPr/>
          <a:lstStyle/>
          <a:p>
            <a:fld id="{810D65AE-4CA8-4222-A0B6-6E3B3C5314AC}" type="datetime1">
              <a:rPr lang="ar-SA" smtClean="0"/>
              <a:pPr/>
              <a:t>25/08/46</a:t>
            </a:fld>
            <a:endParaRPr lang="ar-SA"/>
          </a:p>
        </p:txBody>
      </p:sp>
      <p:sp>
        <p:nvSpPr>
          <p:cNvPr id="6" name="Footer Placeholder 5"/>
          <p:cNvSpPr>
            <a:spLocks noGrp="1"/>
          </p:cNvSpPr>
          <p:nvPr>
            <p:ph type="ftr" sz="quarter" idx="11"/>
          </p:nvPr>
        </p:nvSpPr>
        <p:spPr/>
        <p:txBody>
          <a:bodyPr/>
          <a:lstStyle/>
          <a:p>
            <a:r>
              <a:rPr lang="en-US"/>
              <a:t>Internet Technologies - Chapter 1</a:t>
            </a:r>
            <a:endParaRPr lang="ar-SA"/>
          </a:p>
        </p:txBody>
      </p:sp>
      <p:sp>
        <p:nvSpPr>
          <p:cNvPr id="7" name="Slide Number Placeholder 6"/>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4955669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Content Placeholder 3"/>
          <p:cNvSpPr>
            <a:spLocks noGrp="1"/>
          </p:cNvSpPr>
          <p:nvPr>
            <p:ph sz="half" idx="2"/>
          </p:nvPr>
        </p:nvSpPr>
        <p:spPr>
          <a:xfrm>
            <a:off x="1024128" y="2967788"/>
            <a:ext cx="4754880" cy="3341572"/>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ar-SA"/>
              <a:t>انقر لتحرير أنماط نص الشكل الرئيسي</a:t>
            </a:r>
          </a:p>
        </p:txBody>
      </p:sp>
      <p:sp>
        <p:nvSpPr>
          <p:cNvPr id="6" name="Content Placeholder 5"/>
          <p:cNvSpPr>
            <a:spLocks noGrp="1"/>
          </p:cNvSpPr>
          <p:nvPr>
            <p:ph sz="quarter" idx="4"/>
          </p:nvPr>
        </p:nvSpPr>
        <p:spPr>
          <a:xfrm>
            <a:off x="5990888" y="2967788"/>
            <a:ext cx="4754880" cy="3341572"/>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p:txBody>
          <a:bodyPr/>
          <a:lstStyle/>
          <a:p>
            <a:fld id="{810D65AE-4CA8-4222-A0B6-6E3B3C5314AC}" type="datetime1">
              <a:rPr lang="ar-SA" smtClean="0"/>
              <a:pPr/>
              <a:t>25/08/46</a:t>
            </a:fld>
            <a:endParaRPr lang="ar-SA"/>
          </a:p>
        </p:txBody>
      </p:sp>
      <p:sp>
        <p:nvSpPr>
          <p:cNvPr id="8" name="Footer Placeholder 7"/>
          <p:cNvSpPr>
            <a:spLocks noGrp="1"/>
          </p:cNvSpPr>
          <p:nvPr>
            <p:ph type="ftr" sz="quarter" idx="11"/>
          </p:nvPr>
        </p:nvSpPr>
        <p:spPr/>
        <p:txBody>
          <a:bodyPr/>
          <a:lstStyle/>
          <a:p>
            <a:r>
              <a:rPr lang="en-US"/>
              <a:t>Internet Technologies - Chapter 1</a:t>
            </a:r>
            <a:endParaRPr lang="ar-SA"/>
          </a:p>
        </p:txBody>
      </p:sp>
      <p:sp>
        <p:nvSpPr>
          <p:cNvPr id="9" name="Slide Number Placeholder 8"/>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186479372"/>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Date Placeholder 2"/>
          <p:cNvSpPr>
            <a:spLocks noGrp="1"/>
          </p:cNvSpPr>
          <p:nvPr>
            <p:ph type="dt" sz="half" idx="10"/>
          </p:nvPr>
        </p:nvSpPr>
        <p:spPr/>
        <p:txBody>
          <a:bodyPr/>
          <a:lstStyle/>
          <a:p>
            <a:fld id="{810D65AE-4CA8-4222-A0B6-6E3B3C5314AC}" type="datetime1">
              <a:rPr lang="ar-SA" smtClean="0"/>
              <a:pPr/>
              <a:t>25/08/46</a:t>
            </a:fld>
            <a:endParaRPr lang="ar-SA"/>
          </a:p>
        </p:txBody>
      </p:sp>
      <p:sp>
        <p:nvSpPr>
          <p:cNvPr id="4" name="Footer Placeholder 3"/>
          <p:cNvSpPr>
            <a:spLocks noGrp="1"/>
          </p:cNvSpPr>
          <p:nvPr>
            <p:ph type="ftr" sz="quarter" idx="11"/>
          </p:nvPr>
        </p:nvSpPr>
        <p:spPr/>
        <p:txBody>
          <a:bodyPr/>
          <a:lstStyle/>
          <a:p>
            <a:r>
              <a:rPr lang="en-US"/>
              <a:t>Internet Technologies - Chapter 1</a:t>
            </a:r>
            <a:endParaRPr lang="ar-SA"/>
          </a:p>
        </p:txBody>
      </p:sp>
      <p:sp>
        <p:nvSpPr>
          <p:cNvPr id="5" name="Slide Number Placeholder 4"/>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624465863"/>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0D65AE-4CA8-4222-A0B6-6E3B3C5314AC}" type="datetime1">
              <a:rPr lang="ar-SA" smtClean="0"/>
              <a:pPr/>
              <a:t>25/08/46</a:t>
            </a:fld>
            <a:endParaRPr lang="ar-SA"/>
          </a:p>
        </p:txBody>
      </p:sp>
      <p:sp>
        <p:nvSpPr>
          <p:cNvPr id="3" name="Footer Placeholder 2"/>
          <p:cNvSpPr>
            <a:spLocks noGrp="1"/>
          </p:cNvSpPr>
          <p:nvPr>
            <p:ph type="ftr" sz="quarter" idx="11"/>
          </p:nvPr>
        </p:nvSpPr>
        <p:spPr/>
        <p:txBody>
          <a:bodyPr/>
          <a:lstStyle/>
          <a:p>
            <a:r>
              <a:rPr lang="en-US"/>
              <a:t>Internet Technologies - Chapter 1</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282716605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ar-SA"/>
              <a:t>انقر لتحرير نمط عنوان الشكل الرئيسي</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810D65AE-4CA8-4222-A0B6-6E3B3C5314AC}" type="datetime1">
              <a:rPr lang="ar-SA" smtClean="0"/>
              <a:pPr/>
              <a:t>25/08/46</a:t>
            </a:fld>
            <a:endParaRPr lang="ar-SA"/>
          </a:p>
        </p:txBody>
      </p:sp>
      <p:sp>
        <p:nvSpPr>
          <p:cNvPr id="6" name="Footer Placeholder 5"/>
          <p:cNvSpPr>
            <a:spLocks noGrp="1"/>
          </p:cNvSpPr>
          <p:nvPr>
            <p:ph type="ftr" sz="quarter" idx="11"/>
          </p:nvPr>
        </p:nvSpPr>
        <p:spPr/>
        <p:txBody>
          <a:bodyPr/>
          <a:lstStyle/>
          <a:p>
            <a:r>
              <a:rPr lang="en-US"/>
              <a:t>Internet Technologies - Chapter 1</a:t>
            </a:r>
            <a:endParaRPr lang="ar-SA"/>
          </a:p>
        </p:txBody>
      </p:sp>
      <p:sp>
        <p:nvSpPr>
          <p:cNvPr id="7" name="Slide Number Placeholder 6"/>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208300308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صور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810D65AE-4CA8-4222-A0B6-6E3B3C5314AC}" type="datetime1">
              <a:rPr lang="ar-SA" smtClean="0"/>
              <a:pPr/>
              <a:t>25/08/46</a:t>
            </a:fld>
            <a:endParaRPr lang="ar-SA"/>
          </a:p>
        </p:txBody>
      </p:sp>
      <p:sp>
        <p:nvSpPr>
          <p:cNvPr id="6" name="Footer Placeholder 5"/>
          <p:cNvSpPr>
            <a:spLocks noGrp="1"/>
          </p:cNvSpPr>
          <p:nvPr>
            <p:ph type="ftr" sz="quarter" idx="11"/>
          </p:nvPr>
        </p:nvSpPr>
        <p:spPr/>
        <p:txBody>
          <a:bodyPr/>
          <a:lstStyle/>
          <a:p>
            <a:r>
              <a:rPr lang="en-US"/>
              <a:t>Internet Technologies - Chapter 1</a:t>
            </a:r>
            <a:endParaRPr lang="ar-SA"/>
          </a:p>
        </p:txBody>
      </p:sp>
      <p:sp>
        <p:nvSpPr>
          <p:cNvPr id="7" name="Slide Number Placeholder 6"/>
          <p:cNvSpPr>
            <a:spLocks noGrp="1"/>
          </p:cNvSpPr>
          <p:nvPr>
            <p:ph type="sldNum" sz="quarter" idx="12"/>
          </p:nvPr>
        </p:nvSpPr>
        <p:spPr/>
        <p:txBody>
          <a:bodyPr/>
          <a:lstStyle/>
          <a:p>
            <a:fld id="{0E432819-B1C9-4D2F-8F6B-911D67ACBAA2}" type="slidenum">
              <a:rPr lang="ar-SA" smtClean="0"/>
              <a:pPr/>
              <a:t>‹#›</a:t>
            </a:fld>
            <a:endParaRPr lang="ar-SA"/>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2487260"/>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810D65AE-4CA8-4222-A0B6-6E3B3C5314AC}" type="datetime1">
              <a:rPr lang="ar-SA" smtClean="0"/>
              <a:pPr/>
              <a:t>25/08/46</a:t>
            </a:fld>
            <a:endParaRPr lang="ar-SA"/>
          </a:p>
        </p:txBody>
      </p:sp>
      <p:sp>
        <p:nvSpPr>
          <p:cNvPr id="5" name="Footer Placeholder 4"/>
          <p:cNvSpPr>
            <a:spLocks noGrp="1"/>
          </p:cNvSpPr>
          <p:nvPr>
            <p:ph type="ftr" sz="quarter" idx="11"/>
          </p:nvPr>
        </p:nvSpPr>
        <p:spPr/>
        <p:txBody>
          <a:bodyPr/>
          <a:lstStyle/>
          <a:p>
            <a:r>
              <a:rPr lang="en-US"/>
              <a:t>Internet Technologies - Chapter 1</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3778431790"/>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810D65AE-4CA8-4222-A0B6-6E3B3C5314AC}" type="datetime1">
              <a:rPr lang="ar-SA" smtClean="0"/>
              <a:pPr/>
              <a:t>25/08/46</a:t>
            </a:fld>
            <a:endParaRPr lang="ar-SA"/>
          </a:p>
        </p:txBody>
      </p:sp>
      <p:sp>
        <p:nvSpPr>
          <p:cNvPr id="5" name="Footer Placeholder 4"/>
          <p:cNvSpPr>
            <a:spLocks noGrp="1"/>
          </p:cNvSpPr>
          <p:nvPr>
            <p:ph type="ftr" sz="quarter" idx="11"/>
          </p:nvPr>
        </p:nvSpPr>
        <p:spPr/>
        <p:txBody>
          <a:bodyPr/>
          <a:lstStyle/>
          <a:p>
            <a:r>
              <a:rPr lang="en-US"/>
              <a:t>Internet Technologies - Chapter 1</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a:t>
            </a:fld>
            <a:endParaRPr lang="ar-SA"/>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4371471"/>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810D65AE-4CA8-4222-A0B6-6E3B3C5314AC}" type="datetime1">
              <a:rPr lang="ar-SA" smtClean="0"/>
              <a:pPr/>
              <a:t>25/08/46</a:t>
            </a:fld>
            <a:endParaRPr lang="ar-SA"/>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a:t>Internet Technologies - Chapter 1</a:t>
            </a:r>
            <a:endParaRPr lang="ar-SA"/>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E432819-B1C9-4D2F-8F6B-911D67ACBAA2}" type="slidenum">
              <a:rPr lang="ar-SA" smtClean="0"/>
              <a:pPr/>
              <a:t>‹#›</a:t>
            </a:fld>
            <a:endParaRPr lang="ar-SA"/>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574971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www.webopedia.com/TERM/C/computer_system.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www.webopedia.com/TERM/A/architecture.html" TargetMode="External"/><Relationship Id="rId2" Type="http://schemas.openxmlformats.org/officeDocument/2006/relationships/hyperlink" Target="https://www.klbict.co.uk/gcse/theory/5_3/5_3_4_topologies.htm" TargetMode="External"/><Relationship Id="rId1" Type="http://schemas.openxmlformats.org/officeDocument/2006/relationships/slideLayout" Target="../slideLayouts/slideLayout2.xml"/><Relationship Id="rId6" Type="http://schemas.openxmlformats.org/officeDocument/2006/relationships/hyperlink" Target="http://www.webopedia.com/TERM/N/node.html" TargetMode="External"/><Relationship Id="rId5" Type="http://schemas.openxmlformats.org/officeDocument/2006/relationships/hyperlink" Target="http://www.webopedia.com/TERM/C/client_server_architecture.html" TargetMode="External"/><Relationship Id="rId4" Type="http://schemas.openxmlformats.org/officeDocument/2006/relationships/hyperlink" Target="http://www.webopedia.com/TERM/P/peer_to_peer_architecture.html"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www.webopedia.com/TERM/R/resource.html" TargetMode="External"/><Relationship Id="rId2" Type="http://schemas.openxmlformats.org/officeDocument/2006/relationships/hyperlink" Target="http://www.webopedia.com/TERM/D/device.html" TargetMode="External"/><Relationship Id="rId1" Type="http://schemas.openxmlformats.org/officeDocument/2006/relationships/slideLayout" Target="../slideLayouts/slideLayout2.xml"/><Relationship Id="rId5" Type="http://schemas.openxmlformats.org/officeDocument/2006/relationships/hyperlink" Target="http://www.webopedia.com/TERM/P/protocol.html" TargetMode="External"/><Relationship Id="rId4" Type="http://schemas.openxmlformats.org/officeDocument/2006/relationships/hyperlink" Target="http://www.webopedia.com/TERM/S/server.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Internet Technologies</a:t>
            </a:r>
            <a:br>
              <a:rPr lang="en-US" b="1" dirty="0"/>
            </a:br>
            <a:r>
              <a:rPr lang="en-US" dirty="0"/>
              <a:t>MIS-341-4</a:t>
            </a:r>
            <a:endParaRPr lang="ar-SA" b="1" dirty="0"/>
          </a:p>
        </p:txBody>
      </p:sp>
      <p:sp>
        <p:nvSpPr>
          <p:cNvPr id="3" name="Subtitle 2"/>
          <p:cNvSpPr>
            <a:spLocks noGrp="1"/>
          </p:cNvSpPr>
          <p:nvPr>
            <p:ph type="subTitle" idx="1"/>
          </p:nvPr>
        </p:nvSpPr>
        <p:spPr/>
        <p:txBody>
          <a:bodyPr>
            <a:normAutofit/>
          </a:bodyPr>
          <a:lstStyle/>
          <a:p>
            <a:r>
              <a:rPr lang="en-US" sz="4400" dirty="0"/>
              <a:t>Chapter 1</a:t>
            </a:r>
            <a:endParaRPr lang="ar-SA" sz="3600" dirty="0"/>
          </a:p>
        </p:txBody>
      </p:sp>
      <p:sp>
        <p:nvSpPr>
          <p:cNvPr id="6" name="Footer Placeholder 5"/>
          <p:cNvSpPr>
            <a:spLocks noGrp="1"/>
          </p:cNvSpPr>
          <p:nvPr>
            <p:ph type="ftr" sz="quarter" idx="11"/>
          </p:nvPr>
        </p:nvSpPr>
        <p:spPr/>
        <p:txBody>
          <a:bodyPr/>
          <a:lstStyle/>
          <a:p>
            <a:r>
              <a:rPr lang="en-US"/>
              <a:t>Internet Technologies - Chapter 1</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1</a:t>
            </a:fld>
            <a:endParaRPr lang="ar-SA"/>
          </a:p>
        </p:txBody>
      </p:sp>
    </p:spTree>
    <p:extLst>
      <p:ext uri="{BB962C8B-B14F-4D97-AF65-F5344CB8AC3E}">
        <p14:creationId xmlns:p14="http://schemas.microsoft.com/office/powerpoint/2010/main" val="603625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Internet and its uses</a:t>
            </a:r>
            <a:endParaRPr lang="ar-SA" dirty="0"/>
          </a:p>
        </p:txBody>
      </p:sp>
      <p:sp>
        <p:nvSpPr>
          <p:cNvPr id="3" name="Content Placeholder 2"/>
          <p:cNvSpPr>
            <a:spLocks noGrp="1"/>
          </p:cNvSpPr>
          <p:nvPr>
            <p:ph idx="1"/>
          </p:nvPr>
        </p:nvSpPr>
        <p:spPr/>
        <p:txBody>
          <a:bodyPr>
            <a:normAutofit fontScale="77500" lnSpcReduction="20000"/>
          </a:bodyPr>
          <a:lstStyle/>
          <a:p>
            <a:pPr marL="0" indent="0" algn="just">
              <a:buNone/>
            </a:pPr>
            <a:r>
              <a:rPr lang="en-US" b="1" dirty="0"/>
              <a:t>Internet:</a:t>
            </a:r>
            <a:r>
              <a:rPr lang="en-US" dirty="0"/>
              <a:t> is a global network of inter-connected computers, where one computer can be connected to any other computer (or computerized device) in any portion of the world.</a:t>
            </a:r>
          </a:p>
          <a:p>
            <a:pPr marL="0" indent="0" algn="just">
              <a:buNone/>
            </a:pPr>
            <a:r>
              <a:rPr lang="x-none" b="1" dirty="0"/>
              <a:t>Evolution</a:t>
            </a:r>
            <a:r>
              <a:rPr lang="en-US" b="1" dirty="0"/>
              <a:t> of Internet:</a:t>
            </a:r>
          </a:p>
          <a:p>
            <a:pPr algn="just"/>
            <a:r>
              <a:rPr lang="en-US" dirty="0"/>
              <a:t>The concept of Internet was originated in 1969 and has undergone several technological &amp; Infrastructural changes as discussed below:</a:t>
            </a:r>
          </a:p>
          <a:p>
            <a:pPr lvl="0" algn="just"/>
            <a:r>
              <a:rPr lang="en-US" dirty="0"/>
              <a:t>The origin of Internet devised from the concept of </a:t>
            </a:r>
            <a:r>
              <a:rPr lang="en-US" b="1" dirty="0"/>
              <a:t>Advanced Research Project Agency Network (ARPANET).</a:t>
            </a:r>
            <a:endParaRPr lang="en-US" dirty="0"/>
          </a:p>
          <a:p>
            <a:pPr lvl="0" algn="just"/>
            <a:r>
              <a:rPr lang="en-US" b="1" dirty="0"/>
              <a:t>ARPANET</a:t>
            </a:r>
            <a:r>
              <a:rPr lang="en-US" dirty="0"/>
              <a:t> was developed by United States Department of Defense.</a:t>
            </a:r>
          </a:p>
          <a:p>
            <a:pPr lvl="0" algn="just"/>
            <a:r>
              <a:rPr lang="en-US" dirty="0"/>
              <a:t>Basic purpose of ARPANET was to provide communication among the various bodies of government.</a:t>
            </a:r>
          </a:p>
          <a:p>
            <a:pPr lvl="0" algn="just"/>
            <a:r>
              <a:rPr lang="en-US" dirty="0"/>
              <a:t>Initially, there were only four nodes, formally called </a:t>
            </a:r>
            <a:r>
              <a:rPr lang="en-US" b="1" dirty="0"/>
              <a:t>Hosts.</a:t>
            </a:r>
            <a:endParaRPr lang="en-US" dirty="0"/>
          </a:p>
          <a:p>
            <a:pPr lvl="0" algn="just"/>
            <a:r>
              <a:rPr lang="en-US" dirty="0"/>
              <a:t>In 1972, the </a:t>
            </a:r>
            <a:r>
              <a:rPr lang="en-US" b="1" dirty="0"/>
              <a:t>ARPANET</a:t>
            </a:r>
            <a:r>
              <a:rPr lang="en-US" dirty="0"/>
              <a:t> spread over the globe with 23 nodes located at different countries and thus became known as </a:t>
            </a:r>
            <a:r>
              <a:rPr lang="en-US" b="1" dirty="0"/>
              <a:t>Internet.</a:t>
            </a:r>
            <a:endParaRPr lang="en-US" dirty="0"/>
          </a:p>
          <a:p>
            <a:pPr lvl="0" algn="just"/>
            <a:r>
              <a:rPr lang="en-US" dirty="0"/>
              <a:t>By the time, with invention of new technologies such as TCP/IP protocols, DNS, WWW, browsers, scripting languages etc., Internet provide a medium to publish and access information over the web.</a:t>
            </a:r>
          </a:p>
          <a:p>
            <a:pPr algn="just"/>
            <a:endParaRPr lang="ar-SA" dirty="0"/>
          </a:p>
        </p:txBody>
      </p:sp>
      <p:sp>
        <p:nvSpPr>
          <p:cNvPr id="6" name="Footer Placeholder 5"/>
          <p:cNvSpPr>
            <a:spLocks noGrp="1"/>
          </p:cNvSpPr>
          <p:nvPr>
            <p:ph type="ftr" sz="quarter" idx="11"/>
          </p:nvPr>
        </p:nvSpPr>
        <p:spPr/>
        <p:txBody>
          <a:bodyPr/>
          <a:lstStyle/>
          <a:p>
            <a:r>
              <a:rPr lang="en-US"/>
              <a:t>Internet Technologies - Chapter 1</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2</a:t>
            </a:fld>
            <a:endParaRPr lang="ar-SA"/>
          </a:p>
        </p:txBody>
      </p:sp>
    </p:spTree>
    <p:extLst>
      <p:ext uri="{BB962C8B-B14F-4D97-AF65-F5344CB8AC3E}">
        <p14:creationId xmlns:p14="http://schemas.microsoft.com/office/powerpoint/2010/main" val="505428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&amp; Disadvantages of Internet</a:t>
            </a:r>
            <a:endParaRPr lang="ar-SA" dirty="0"/>
          </a:p>
        </p:txBody>
      </p:sp>
      <p:sp>
        <p:nvSpPr>
          <p:cNvPr id="3" name="Content Placeholder 2"/>
          <p:cNvSpPr>
            <a:spLocks noGrp="1"/>
          </p:cNvSpPr>
          <p:nvPr>
            <p:ph idx="1"/>
          </p:nvPr>
        </p:nvSpPr>
        <p:spPr>
          <a:xfrm>
            <a:off x="838200" y="1825625"/>
            <a:ext cx="10515600" cy="4583488"/>
          </a:xfrm>
        </p:spPr>
        <p:txBody>
          <a:bodyPr/>
          <a:lstStyle/>
          <a:p>
            <a:pPr marL="0" indent="0">
              <a:buNone/>
            </a:pPr>
            <a:r>
              <a:rPr lang="en-US" dirty="0"/>
              <a:t>Advantages:</a:t>
            </a:r>
          </a:p>
          <a:p>
            <a:pPr algn="just"/>
            <a:r>
              <a:rPr lang="en-US" dirty="0"/>
              <a:t>Internet covers almost every aspect of life, one can think of. Here, we will discuss some of the advantages of Internet.</a:t>
            </a:r>
          </a:p>
          <a:p>
            <a:endParaRPr lang="ar-SA" dirty="0"/>
          </a:p>
        </p:txBody>
      </p:sp>
      <p:sp>
        <p:nvSpPr>
          <p:cNvPr id="8" name="Footer Placeholder 7"/>
          <p:cNvSpPr>
            <a:spLocks noGrp="1"/>
          </p:cNvSpPr>
          <p:nvPr>
            <p:ph type="ftr" sz="quarter" idx="11"/>
          </p:nvPr>
        </p:nvSpPr>
        <p:spPr/>
        <p:txBody>
          <a:bodyPr/>
          <a:lstStyle/>
          <a:p>
            <a:r>
              <a:rPr lang="en-US"/>
              <a:t>Internet Technologies - Chapter 1</a:t>
            </a:r>
            <a:endParaRPr lang="ar-SA"/>
          </a:p>
        </p:txBody>
      </p:sp>
      <p:sp>
        <p:nvSpPr>
          <p:cNvPr id="5" name="Slide Number Placeholder 4"/>
          <p:cNvSpPr>
            <a:spLocks noGrp="1"/>
          </p:cNvSpPr>
          <p:nvPr>
            <p:ph type="sldNum" sz="quarter" idx="12"/>
          </p:nvPr>
        </p:nvSpPr>
        <p:spPr/>
        <p:txBody>
          <a:bodyPr/>
          <a:lstStyle/>
          <a:p>
            <a:fld id="{0E432819-B1C9-4D2F-8F6B-911D67ACBAA2}" type="slidenum">
              <a:rPr lang="ar-SA" smtClean="0"/>
              <a:pPr/>
              <a:t>3</a:t>
            </a:fld>
            <a:endParaRPr lang="ar-SA"/>
          </a:p>
        </p:txBody>
      </p:sp>
      <p:pic>
        <p:nvPicPr>
          <p:cNvPr id="6" name="Picture 5"/>
          <p:cNvPicPr>
            <a:picLocks noChangeAspect="1"/>
          </p:cNvPicPr>
          <p:nvPr/>
        </p:nvPicPr>
        <p:blipFill>
          <a:blip r:embed="rId2" cstate="print"/>
          <a:stretch>
            <a:fillRect/>
          </a:stretch>
        </p:blipFill>
        <p:spPr>
          <a:xfrm>
            <a:off x="2668384" y="3474063"/>
            <a:ext cx="5079077" cy="2702900"/>
          </a:xfrm>
          <a:prstGeom prst="rect">
            <a:avLst/>
          </a:prstGeom>
        </p:spPr>
      </p:pic>
    </p:spTree>
    <p:extLst>
      <p:ext uri="{BB962C8B-B14F-4D97-AF65-F5344CB8AC3E}">
        <p14:creationId xmlns:p14="http://schemas.microsoft.com/office/powerpoint/2010/main" val="4246051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Disadvantages of Internet:</a:t>
            </a:r>
            <a:endParaRPr lang="ar-SA" dirty="0"/>
          </a:p>
        </p:txBody>
      </p:sp>
      <p:sp>
        <p:nvSpPr>
          <p:cNvPr id="3" name="Content Placeholder 2"/>
          <p:cNvSpPr>
            <a:spLocks noGrp="1"/>
          </p:cNvSpPr>
          <p:nvPr>
            <p:ph idx="1"/>
          </p:nvPr>
        </p:nvSpPr>
        <p:spPr>
          <a:xfrm>
            <a:off x="838200" y="1825625"/>
            <a:ext cx="10515600" cy="4558550"/>
          </a:xfrm>
        </p:spPr>
        <p:txBody>
          <a:bodyPr/>
          <a:lstStyle/>
          <a:p>
            <a:pPr marL="0" indent="0">
              <a:buNone/>
            </a:pPr>
            <a:r>
              <a:rPr lang="en-US" dirty="0"/>
              <a:t>However, Internet has proved to be a powerful source of information in almost every field, yet there exists many disadvantages discussed below:</a:t>
            </a:r>
          </a:p>
          <a:p>
            <a:endParaRPr lang="ar-SA" dirty="0"/>
          </a:p>
        </p:txBody>
      </p:sp>
      <p:sp>
        <p:nvSpPr>
          <p:cNvPr id="7" name="Footer Placeholder 6"/>
          <p:cNvSpPr>
            <a:spLocks noGrp="1"/>
          </p:cNvSpPr>
          <p:nvPr>
            <p:ph type="ftr" sz="quarter" idx="11"/>
          </p:nvPr>
        </p:nvSpPr>
        <p:spPr/>
        <p:txBody>
          <a:bodyPr/>
          <a:lstStyle/>
          <a:p>
            <a:r>
              <a:rPr lang="en-US"/>
              <a:t>Internet Technologies - Chapter 1</a:t>
            </a:r>
            <a:endParaRPr lang="ar-SA"/>
          </a:p>
        </p:txBody>
      </p:sp>
      <p:sp>
        <p:nvSpPr>
          <p:cNvPr id="5" name="Slide Number Placeholder 4"/>
          <p:cNvSpPr>
            <a:spLocks noGrp="1"/>
          </p:cNvSpPr>
          <p:nvPr>
            <p:ph type="sldNum" sz="quarter" idx="12"/>
          </p:nvPr>
        </p:nvSpPr>
        <p:spPr/>
        <p:txBody>
          <a:bodyPr/>
          <a:lstStyle/>
          <a:p>
            <a:fld id="{0E432819-B1C9-4D2F-8F6B-911D67ACBAA2}" type="slidenum">
              <a:rPr lang="ar-SA" smtClean="0"/>
              <a:pPr/>
              <a:t>4</a:t>
            </a:fld>
            <a:endParaRPr lang="ar-SA"/>
          </a:p>
        </p:txBody>
      </p:sp>
      <p:pic>
        <p:nvPicPr>
          <p:cNvPr id="4" name="Picture 3"/>
          <p:cNvPicPr>
            <a:picLocks noChangeAspect="1"/>
          </p:cNvPicPr>
          <p:nvPr/>
        </p:nvPicPr>
        <p:blipFill>
          <a:blip r:embed="rId2" cstate="print"/>
          <a:stretch>
            <a:fillRect/>
          </a:stretch>
        </p:blipFill>
        <p:spPr>
          <a:xfrm>
            <a:off x="2793076" y="3075708"/>
            <a:ext cx="4854633" cy="2818015"/>
          </a:xfrm>
          <a:prstGeom prst="rect">
            <a:avLst/>
          </a:prstGeom>
        </p:spPr>
      </p:pic>
    </p:spTree>
    <p:extLst>
      <p:ext uri="{BB962C8B-B14F-4D97-AF65-F5344CB8AC3E}">
        <p14:creationId xmlns:p14="http://schemas.microsoft.com/office/powerpoint/2010/main" val="3837220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Applications:</a:t>
            </a:r>
            <a:endParaRPr lang="ar-SA" dirty="0"/>
          </a:p>
        </p:txBody>
      </p:sp>
      <p:pic>
        <p:nvPicPr>
          <p:cNvPr id="4" name="Content Placeholder 3"/>
          <p:cNvPicPr>
            <a:picLocks noGrp="1" noChangeAspect="1"/>
          </p:cNvPicPr>
          <p:nvPr>
            <p:ph idx="1"/>
          </p:nvPr>
        </p:nvPicPr>
        <p:blipFill>
          <a:blip r:embed="rId2" cstate="print"/>
          <a:stretch>
            <a:fillRect/>
          </a:stretch>
        </p:blipFill>
        <p:spPr>
          <a:xfrm>
            <a:off x="1679171" y="1690689"/>
            <a:ext cx="7764087" cy="4227974"/>
          </a:xfrm>
          <a:prstGeom prst="rect">
            <a:avLst/>
          </a:prstGeom>
        </p:spPr>
      </p:pic>
      <p:sp>
        <p:nvSpPr>
          <p:cNvPr id="7" name="Footer Placeholder 6"/>
          <p:cNvSpPr>
            <a:spLocks noGrp="1"/>
          </p:cNvSpPr>
          <p:nvPr>
            <p:ph type="ftr" sz="quarter" idx="11"/>
          </p:nvPr>
        </p:nvSpPr>
        <p:spPr/>
        <p:txBody>
          <a:bodyPr/>
          <a:lstStyle/>
          <a:p>
            <a:r>
              <a:rPr lang="en-US"/>
              <a:t>Internet Technologies - Chapter 1</a:t>
            </a:r>
            <a:endParaRPr lang="ar-SA"/>
          </a:p>
        </p:txBody>
      </p:sp>
      <p:sp>
        <p:nvSpPr>
          <p:cNvPr id="5" name="Slide Number Placeholder 4"/>
          <p:cNvSpPr>
            <a:spLocks noGrp="1"/>
          </p:cNvSpPr>
          <p:nvPr>
            <p:ph type="sldNum" sz="quarter" idx="12"/>
          </p:nvPr>
        </p:nvSpPr>
        <p:spPr/>
        <p:txBody>
          <a:bodyPr/>
          <a:lstStyle/>
          <a:p>
            <a:fld id="{0E432819-B1C9-4D2F-8F6B-911D67ACBAA2}" type="slidenum">
              <a:rPr lang="ar-SA" smtClean="0"/>
              <a:pPr/>
              <a:t>5</a:t>
            </a:fld>
            <a:endParaRPr lang="ar-SA"/>
          </a:p>
        </p:txBody>
      </p:sp>
    </p:spTree>
    <p:extLst>
      <p:ext uri="{BB962C8B-B14F-4D97-AF65-F5344CB8AC3E}">
        <p14:creationId xmlns:p14="http://schemas.microsoft.com/office/powerpoint/2010/main" val="838393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644" y="745637"/>
            <a:ext cx="9720072" cy="906700"/>
          </a:xfrm>
        </p:spPr>
        <p:txBody>
          <a:bodyPr/>
          <a:lstStyle/>
          <a:p>
            <a:r>
              <a:rPr lang="en-US" dirty="0"/>
              <a:t>Internet Applications:</a:t>
            </a:r>
            <a:endParaRPr lang="ar-SA" dirty="0"/>
          </a:p>
        </p:txBody>
      </p:sp>
      <p:sp>
        <p:nvSpPr>
          <p:cNvPr id="3" name="Content Placeholder 2"/>
          <p:cNvSpPr>
            <a:spLocks noGrp="1"/>
          </p:cNvSpPr>
          <p:nvPr>
            <p:ph idx="1"/>
          </p:nvPr>
        </p:nvSpPr>
        <p:spPr>
          <a:xfrm>
            <a:off x="911834" y="2013284"/>
            <a:ext cx="9720073" cy="3810000"/>
          </a:xfrm>
        </p:spPr>
        <p:txBody>
          <a:bodyPr>
            <a:normAutofit/>
          </a:bodyPr>
          <a:lstStyle/>
          <a:p>
            <a:pPr algn="just"/>
            <a:r>
              <a:rPr lang="en-US" b="1" dirty="0"/>
              <a:t>World Wide Web (WWW):</a:t>
            </a:r>
            <a:r>
              <a:rPr lang="en-US" dirty="0"/>
              <a:t> It is a subset of the Internet, and it presents text, images, animation, video, sound, and other multimedia in a single interface. The operation of the Web relies primarily on hypertext, as it is a means of information retrieval. </a:t>
            </a:r>
          </a:p>
          <a:p>
            <a:pPr algn="just"/>
            <a:r>
              <a:rPr lang="en-US" b="1" dirty="0"/>
              <a:t>Electronic Mail (E Mail):</a:t>
            </a:r>
            <a:r>
              <a:rPr lang="en-US" dirty="0"/>
              <a:t> It is the process of exchanging messages electronically, via a communications network, using the computer.  </a:t>
            </a:r>
          </a:p>
          <a:p>
            <a:pPr algn="just"/>
            <a:r>
              <a:rPr lang="en-US" b="1" dirty="0"/>
              <a:t>File Transfer Protocol (FTP):</a:t>
            </a:r>
            <a:r>
              <a:rPr lang="en-US" dirty="0"/>
              <a:t> It is a system of rules and a software program that enables a user to log on to another computer and transfer information between it and his/her computer. </a:t>
            </a:r>
          </a:p>
          <a:p>
            <a:pPr algn="just"/>
            <a:r>
              <a:rPr lang="en-US" b="1" dirty="0"/>
              <a:t>Telnet:</a:t>
            </a:r>
            <a:r>
              <a:rPr lang="en-US" dirty="0"/>
              <a:t> It connects one machine to another in such a way that a person may interact with another machine as if it is being used locally.</a:t>
            </a:r>
            <a:endParaRPr lang="ar-SA" dirty="0"/>
          </a:p>
        </p:txBody>
      </p:sp>
      <p:sp>
        <p:nvSpPr>
          <p:cNvPr id="6" name="Footer Placeholder 5"/>
          <p:cNvSpPr>
            <a:spLocks noGrp="1"/>
          </p:cNvSpPr>
          <p:nvPr>
            <p:ph type="ftr" sz="quarter" idx="11"/>
          </p:nvPr>
        </p:nvSpPr>
        <p:spPr/>
        <p:txBody>
          <a:bodyPr/>
          <a:lstStyle/>
          <a:p>
            <a:r>
              <a:rPr lang="en-US"/>
              <a:t>Internet Technologies - Chapter 1</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6</a:t>
            </a:fld>
            <a:endParaRPr lang="ar-SA"/>
          </a:p>
        </p:txBody>
      </p:sp>
    </p:spTree>
    <p:extLst>
      <p:ext uri="{BB962C8B-B14F-4D97-AF65-F5344CB8AC3E}">
        <p14:creationId xmlns:p14="http://schemas.microsoft.com/office/powerpoint/2010/main" val="1261296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Applications:</a:t>
            </a:r>
            <a:endParaRPr lang="ar-SA" dirty="0"/>
          </a:p>
        </p:txBody>
      </p:sp>
      <p:sp>
        <p:nvSpPr>
          <p:cNvPr id="3" name="Content Placeholder 2"/>
          <p:cNvSpPr>
            <a:spLocks noGrp="1"/>
          </p:cNvSpPr>
          <p:nvPr>
            <p:ph idx="1"/>
          </p:nvPr>
        </p:nvSpPr>
        <p:spPr/>
        <p:txBody>
          <a:bodyPr>
            <a:normAutofit/>
          </a:bodyPr>
          <a:lstStyle/>
          <a:p>
            <a:pPr algn="just"/>
            <a:r>
              <a:rPr lang="en-US" b="1" dirty="0"/>
              <a:t>Internet Relay Chat (IRC):</a:t>
            </a:r>
            <a:r>
              <a:rPr lang="en-US" dirty="0"/>
              <a:t> This service allows people to communicate in real time and carry on conversations via the computer with one or more people. It provides the user with the facility to engage in simultaneous (synchronous) online 'conversations' with other users from anywhere in the world. </a:t>
            </a:r>
          </a:p>
          <a:p>
            <a:pPr algn="just"/>
            <a:r>
              <a:rPr lang="en-US" b="1" dirty="0"/>
              <a:t>Chatting and Instant Messaging:</a:t>
            </a:r>
            <a:r>
              <a:rPr lang="en-US" dirty="0"/>
              <a:t> Chat programs allow users on the Internet to   communicate with each other by typing in real time. Instant messaging allows a user on the Web to contact another user currently logged in and type a conversation. </a:t>
            </a:r>
          </a:p>
          <a:p>
            <a:pPr algn="just"/>
            <a:r>
              <a:rPr lang="en-US" b="1" dirty="0"/>
              <a:t>Internet Telephony:</a:t>
            </a:r>
            <a:r>
              <a:rPr lang="en-US" dirty="0"/>
              <a:t> It refers to the use of the Internet rather than the traditional telephone company infrastructure, to exchange spoken or other telephonic information.</a:t>
            </a:r>
            <a:endParaRPr lang="ar-SA" dirty="0"/>
          </a:p>
        </p:txBody>
      </p:sp>
      <p:sp>
        <p:nvSpPr>
          <p:cNvPr id="6" name="Footer Placeholder 5"/>
          <p:cNvSpPr>
            <a:spLocks noGrp="1"/>
          </p:cNvSpPr>
          <p:nvPr>
            <p:ph type="ftr" sz="quarter" idx="11"/>
          </p:nvPr>
        </p:nvSpPr>
        <p:spPr/>
        <p:txBody>
          <a:bodyPr/>
          <a:lstStyle/>
          <a:p>
            <a:r>
              <a:rPr lang="en-US"/>
              <a:t>Internet Technologies - Chapter 1</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7</a:t>
            </a:fld>
            <a:endParaRPr lang="ar-SA"/>
          </a:p>
        </p:txBody>
      </p:sp>
    </p:spTree>
    <p:extLst>
      <p:ext uri="{BB962C8B-B14F-4D97-AF65-F5344CB8AC3E}">
        <p14:creationId xmlns:p14="http://schemas.microsoft.com/office/powerpoint/2010/main" val="3189638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Applications:</a:t>
            </a:r>
            <a:endParaRPr lang="ar-SA" dirty="0"/>
          </a:p>
        </p:txBody>
      </p:sp>
      <p:sp>
        <p:nvSpPr>
          <p:cNvPr id="3" name="Content Placeholder 2"/>
          <p:cNvSpPr>
            <a:spLocks noGrp="1"/>
          </p:cNvSpPr>
          <p:nvPr>
            <p:ph idx="1"/>
          </p:nvPr>
        </p:nvSpPr>
        <p:spPr/>
        <p:txBody>
          <a:bodyPr>
            <a:normAutofit/>
          </a:bodyPr>
          <a:lstStyle/>
          <a:p>
            <a:pPr algn="just"/>
            <a:r>
              <a:rPr lang="en-US" b="1" dirty="0"/>
              <a:t>Video Conferencing:</a:t>
            </a:r>
            <a:r>
              <a:rPr lang="en-US" dirty="0"/>
              <a:t> It uses the same technology as IRC, but also provides sound and video pictures. It enables direct face to face communication across networks via web cameras, microphones, and other communication tools. </a:t>
            </a:r>
          </a:p>
          <a:p>
            <a:pPr algn="just"/>
            <a:r>
              <a:rPr lang="en-US" b="1" dirty="0"/>
              <a:t>Commerce through Internet:</a:t>
            </a:r>
            <a:r>
              <a:rPr lang="en-US" dirty="0"/>
              <a:t> It refers to buying and selling goods and services online.  </a:t>
            </a:r>
          </a:p>
          <a:p>
            <a:pPr algn="just"/>
            <a:r>
              <a:rPr lang="en-US" b="1" dirty="0"/>
              <a:t>Newsgroups (Usenet</a:t>
            </a:r>
            <a:r>
              <a:rPr lang="en-US" dirty="0"/>
              <a:t>): It is an international discussion group that focuses on a particular topic and helps in gathering information about that topic. </a:t>
            </a:r>
          </a:p>
          <a:p>
            <a:pPr algn="just"/>
            <a:r>
              <a:rPr lang="en-US" b="1" dirty="0"/>
              <a:t>Mailing Lists (List server):</a:t>
            </a:r>
            <a:r>
              <a:rPr lang="en-US" dirty="0"/>
              <a:t> It refers to a large community of individuals who carry out active discussions, organized around topic oriented forums that are distributed via e mail and this method is known as mailing list</a:t>
            </a:r>
            <a:endParaRPr lang="ar-SA" dirty="0"/>
          </a:p>
        </p:txBody>
      </p:sp>
      <p:sp>
        <p:nvSpPr>
          <p:cNvPr id="6" name="Footer Placeholder 5"/>
          <p:cNvSpPr>
            <a:spLocks noGrp="1"/>
          </p:cNvSpPr>
          <p:nvPr>
            <p:ph type="ftr" sz="quarter" idx="11"/>
          </p:nvPr>
        </p:nvSpPr>
        <p:spPr/>
        <p:txBody>
          <a:bodyPr/>
          <a:lstStyle/>
          <a:p>
            <a:r>
              <a:rPr lang="en-US"/>
              <a:t>Internet Technologies - Chapter 1</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8</a:t>
            </a:fld>
            <a:endParaRPr lang="ar-SA"/>
          </a:p>
        </p:txBody>
      </p:sp>
    </p:spTree>
    <p:extLst>
      <p:ext uri="{BB962C8B-B14F-4D97-AF65-F5344CB8AC3E}">
        <p14:creationId xmlns:p14="http://schemas.microsoft.com/office/powerpoint/2010/main" val="3499536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and Connectors:</a:t>
            </a:r>
            <a:endParaRPr lang="ar-SA" dirty="0"/>
          </a:p>
        </p:txBody>
      </p:sp>
      <p:sp>
        <p:nvSpPr>
          <p:cNvPr id="3" name="Content Placeholder 2"/>
          <p:cNvSpPr>
            <a:spLocks noGrp="1"/>
          </p:cNvSpPr>
          <p:nvPr>
            <p:ph idx="1"/>
          </p:nvPr>
        </p:nvSpPr>
        <p:spPr/>
        <p:txBody>
          <a:bodyPr>
            <a:normAutofit fontScale="92500" lnSpcReduction="10000"/>
          </a:bodyPr>
          <a:lstStyle/>
          <a:p>
            <a:pPr algn="just"/>
            <a:r>
              <a:rPr lang="en-US" b="1" dirty="0"/>
              <a:t>A network is defined as a group of two or more </a:t>
            </a:r>
            <a:r>
              <a:rPr lang="en-US" b="1" dirty="0">
                <a:hlinkClick r:id="rId2"/>
              </a:rPr>
              <a:t>computer systems</a:t>
            </a:r>
            <a:r>
              <a:rPr lang="en-US" b="1" dirty="0"/>
              <a:t> linked together. </a:t>
            </a:r>
            <a:endParaRPr lang="en-US" dirty="0"/>
          </a:p>
          <a:p>
            <a:pPr marL="0" indent="0" algn="just">
              <a:buNone/>
            </a:pPr>
            <a:endParaRPr lang="en-US" sz="1400" dirty="0"/>
          </a:p>
          <a:p>
            <a:pPr algn="just"/>
            <a:r>
              <a:rPr lang="en-US" b="1" dirty="0"/>
              <a:t>Local Area Network (LAN):</a:t>
            </a:r>
            <a:r>
              <a:rPr lang="en-US" dirty="0"/>
              <a:t> LAN spans only a small geographical area such as an office, home, or building. In LAN one computer is designated as the file server, which stores all the software that controls the network and other computers connected are called workstations. </a:t>
            </a:r>
          </a:p>
          <a:p>
            <a:pPr algn="just"/>
            <a:r>
              <a:rPr lang="en-US" b="1" dirty="0"/>
              <a:t>Metropolitan Area Network (MAN):</a:t>
            </a:r>
            <a:r>
              <a:rPr lang="en-US" dirty="0"/>
              <a:t> MAN is a network of computers spread over a metropolitan area such as city and its suburbs. Operated by one organization (a corporate with several offices in one city), or be shared resources used by several organizations in the same city. </a:t>
            </a:r>
          </a:p>
          <a:p>
            <a:pPr algn="just"/>
            <a:r>
              <a:rPr lang="en-US" b="1" dirty="0"/>
              <a:t>Wide Area Network (WAN):</a:t>
            </a:r>
            <a:r>
              <a:rPr lang="en-US" dirty="0"/>
              <a:t> WAN is a system of interconnecting computers over a large geographical area such as cities, states, countries, or even the world. These kinds of networks use telephone lines, satellite links, and other long range communications technologies to connect.</a:t>
            </a:r>
            <a:endParaRPr lang="ar-SA" dirty="0"/>
          </a:p>
        </p:txBody>
      </p:sp>
      <p:sp>
        <p:nvSpPr>
          <p:cNvPr id="6" name="Footer Placeholder 5"/>
          <p:cNvSpPr>
            <a:spLocks noGrp="1"/>
          </p:cNvSpPr>
          <p:nvPr>
            <p:ph type="ftr" sz="quarter" idx="11"/>
          </p:nvPr>
        </p:nvSpPr>
        <p:spPr/>
        <p:txBody>
          <a:bodyPr/>
          <a:lstStyle/>
          <a:p>
            <a:r>
              <a:rPr lang="en-US"/>
              <a:t>Internet Technologies - Chapter 1</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9</a:t>
            </a:fld>
            <a:endParaRPr lang="ar-SA"/>
          </a:p>
        </p:txBody>
      </p:sp>
    </p:spTree>
    <p:extLst>
      <p:ext uri="{BB962C8B-B14F-4D97-AF65-F5344CB8AC3E}">
        <p14:creationId xmlns:p14="http://schemas.microsoft.com/office/powerpoint/2010/main" val="3974141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Networks Characteristics &amp; Topologies:</a:t>
            </a:r>
            <a:endParaRPr lang="ar-SA" dirty="0"/>
          </a:p>
        </p:txBody>
      </p:sp>
      <p:sp>
        <p:nvSpPr>
          <p:cNvPr id="3" name="Content Placeholder 2"/>
          <p:cNvSpPr>
            <a:spLocks noGrp="1"/>
          </p:cNvSpPr>
          <p:nvPr>
            <p:ph idx="1"/>
          </p:nvPr>
        </p:nvSpPr>
        <p:spPr/>
        <p:txBody>
          <a:bodyPr>
            <a:normAutofit fontScale="92500" lnSpcReduction="10000"/>
          </a:bodyPr>
          <a:lstStyle/>
          <a:p>
            <a:pPr marL="0" indent="0" algn="just" fontAlgn="base">
              <a:buNone/>
            </a:pPr>
            <a:r>
              <a:rPr lang="en-US" dirty="0"/>
              <a:t>In addition to these types, the following characteristics are also used to categorize different types of networks:</a:t>
            </a:r>
          </a:p>
          <a:p>
            <a:pPr marL="0" indent="0" algn="just">
              <a:buNone/>
            </a:pPr>
            <a:endParaRPr lang="en-US" sz="1300" dirty="0"/>
          </a:p>
          <a:p>
            <a:pPr marL="0" indent="0" algn="just">
              <a:buNone/>
            </a:pPr>
            <a:r>
              <a:rPr lang="x-none" b="1" dirty="0"/>
              <a:t>LAN Network topologies:</a:t>
            </a:r>
            <a:endParaRPr lang="en-US" b="1" dirty="0"/>
          </a:p>
          <a:p>
            <a:pPr marL="0" indent="0" algn="just">
              <a:buNone/>
            </a:pPr>
            <a:r>
              <a:rPr lang="en-US" b="1" dirty="0"/>
              <a:t>Network topology</a:t>
            </a:r>
            <a:r>
              <a:rPr lang="en-US" dirty="0"/>
              <a:t> is the name given to the way in which the devices (</a:t>
            </a:r>
            <a:r>
              <a:rPr lang="en-US" i="1" dirty="0"/>
              <a:t>called </a:t>
            </a:r>
            <a:r>
              <a:rPr lang="en-US" b="1" i="1" dirty="0"/>
              <a:t>nodes</a:t>
            </a:r>
            <a:r>
              <a:rPr lang="en-US" b="1" dirty="0"/>
              <a:t>) </a:t>
            </a:r>
            <a:r>
              <a:rPr lang="en-US" dirty="0"/>
              <a:t>are physically connected in a network.</a:t>
            </a:r>
          </a:p>
          <a:p>
            <a:pPr marL="0" indent="0" algn="just">
              <a:buNone/>
            </a:pPr>
            <a:r>
              <a:rPr lang="en-US" dirty="0"/>
              <a:t>There are three common network topologies, called </a:t>
            </a:r>
            <a:r>
              <a:rPr lang="en-US" b="1" u="sng" dirty="0">
                <a:hlinkClick r:id="rId2"/>
              </a:rPr>
              <a:t>ring</a:t>
            </a:r>
            <a:r>
              <a:rPr lang="en-US" b="1" dirty="0"/>
              <a:t>, </a:t>
            </a:r>
            <a:r>
              <a:rPr lang="en-US" b="1" u="sng" dirty="0">
                <a:hlinkClick r:id="rId2"/>
              </a:rPr>
              <a:t>line (bus)</a:t>
            </a:r>
            <a:r>
              <a:rPr lang="en-US" b="1" dirty="0"/>
              <a:t> </a:t>
            </a:r>
            <a:r>
              <a:rPr lang="en-US" dirty="0"/>
              <a:t>and</a:t>
            </a:r>
            <a:r>
              <a:rPr lang="en-US" b="1" dirty="0"/>
              <a:t> </a:t>
            </a:r>
            <a:r>
              <a:rPr lang="en-US" b="1" u="sng" dirty="0">
                <a:hlinkClick r:id="rId2"/>
              </a:rPr>
              <a:t>star</a:t>
            </a:r>
            <a:r>
              <a:rPr lang="en-US" dirty="0"/>
              <a:t>.</a:t>
            </a:r>
          </a:p>
          <a:p>
            <a:pPr marL="0" indent="0" algn="just">
              <a:buNone/>
            </a:pPr>
            <a:r>
              <a:rPr lang="en-US" b="1" dirty="0">
                <a:hlinkClick r:id="rId3"/>
              </a:rPr>
              <a:t>Network Architecture</a:t>
            </a:r>
            <a:r>
              <a:rPr lang="en-US" b="1" dirty="0"/>
              <a:t>:</a:t>
            </a:r>
            <a:r>
              <a:rPr lang="en-US" dirty="0"/>
              <a:t> refers to how computers are organized in a system and how tasks are allocated between these computers. Networks can be broadly classified as using either a </a:t>
            </a:r>
            <a:r>
              <a:rPr lang="en-US" dirty="0">
                <a:hlinkClick r:id="rId4"/>
              </a:rPr>
              <a:t>peer-to-peer</a:t>
            </a:r>
            <a:r>
              <a:rPr lang="en-US" dirty="0"/>
              <a:t> or </a:t>
            </a:r>
            <a:r>
              <a:rPr lang="en-US" dirty="0">
                <a:hlinkClick r:id="rId5"/>
              </a:rPr>
              <a:t>client/server architecture</a:t>
            </a:r>
            <a:r>
              <a:rPr lang="en-US" dirty="0"/>
              <a:t>.</a:t>
            </a:r>
          </a:p>
          <a:p>
            <a:pPr marL="0" indent="0" algn="just">
              <a:buNone/>
            </a:pPr>
            <a:r>
              <a:rPr lang="en-US" b="1" dirty="0"/>
              <a:t>Nodes: </a:t>
            </a:r>
            <a:r>
              <a:rPr lang="en-US" dirty="0"/>
              <a:t>Computers on a network are sometimes called </a:t>
            </a:r>
            <a:r>
              <a:rPr lang="en-US" dirty="0">
                <a:hlinkClick r:id="rId6"/>
              </a:rPr>
              <a:t>nodes</a:t>
            </a:r>
            <a:r>
              <a:rPr lang="en-US" dirty="0"/>
              <a:t>.</a:t>
            </a:r>
            <a:endParaRPr lang="ar-SA" dirty="0"/>
          </a:p>
        </p:txBody>
      </p:sp>
      <p:sp>
        <p:nvSpPr>
          <p:cNvPr id="6" name="Footer Placeholder 5"/>
          <p:cNvSpPr>
            <a:spLocks noGrp="1"/>
          </p:cNvSpPr>
          <p:nvPr>
            <p:ph type="ftr" sz="quarter" idx="11"/>
          </p:nvPr>
        </p:nvSpPr>
        <p:spPr/>
        <p:txBody>
          <a:bodyPr/>
          <a:lstStyle/>
          <a:p>
            <a:r>
              <a:rPr lang="en-US"/>
              <a:t>Internet Technologies - Chapter 1</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10</a:t>
            </a:fld>
            <a:endParaRPr lang="ar-SA"/>
          </a:p>
        </p:txBody>
      </p:sp>
    </p:spTree>
    <p:extLst>
      <p:ext uri="{BB962C8B-B14F-4D97-AF65-F5344CB8AC3E}">
        <p14:creationId xmlns:p14="http://schemas.microsoft.com/office/powerpoint/2010/main" val="2424881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Servers, Internet Protocols:</a:t>
            </a:r>
            <a:endParaRPr lang="ar-SA" dirty="0"/>
          </a:p>
        </p:txBody>
      </p:sp>
      <p:sp>
        <p:nvSpPr>
          <p:cNvPr id="3" name="Content Placeholder 2"/>
          <p:cNvSpPr>
            <a:spLocks noGrp="1"/>
          </p:cNvSpPr>
          <p:nvPr>
            <p:ph idx="1"/>
          </p:nvPr>
        </p:nvSpPr>
        <p:spPr/>
        <p:txBody>
          <a:bodyPr/>
          <a:lstStyle/>
          <a:p>
            <a:pPr algn="just"/>
            <a:r>
              <a:rPr lang="en-US" b="1" dirty="0"/>
              <a:t>Servers:</a:t>
            </a:r>
            <a:r>
              <a:rPr lang="en-US" dirty="0"/>
              <a:t> Computers and </a:t>
            </a:r>
            <a:r>
              <a:rPr lang="en-US" dirty="0">
                <a:hlinkClick r:id="rId2"/>
              </a:rPr>
              <a:t>devices</a:t>
            </a:r>
            <a:r>
              <a:rPr lang="en-US" dirty="0"/>
              <a:t> that allocate </a:t>
            </a:r>
            <a:r>
              <a:rPr lang="en-US" dirty="0">
                <a:hlinkClick r:id="rId3"/>
              </a:rPr>
              <a:t>resources</a:t>
            </a:r>
            <a:r>
              <a:rPr lang="en-US" dirty="0"/>
              <a:t> for a network are called </a:t>
            </a:r>
            <a:r>
              <a:rPr lang="en-US" dirty="0">
                <a:hlinkClick r:id="rId4"/>
              </a:rPr>
              <a:t>servers</a:t>
            </a:r>
            <a:r>
              <a:rPr lang="en-US" dirty="0"/>
              <a:t>/ A server is a computer program or a device that provides functionality for other programs or devices, called "clients"</a:t>
            </a:r>
          </a:p>
          <a:p>
            <a:pPr marL="0" indent="0" algn="just">
              <a:buNone/>
            </a:pPr>
            <a:endParaRPr lang="en-US" sz="1600" dirty="0"/>
          </a:p>
          <a:p>
            <a:pPr algn="just"/>
            <a:r>
              <a:rPr lang="en-US" b="1" dirty="0">
                <a:hlinkClick r:id="rId5"/>
              </a:rPr>
              <a:t>Internet Protocols</a:t>
            </a:r>
            <a:r>
              <a:rPr lang="en-US" b="1" dirty="0"/>
              <a:t>:</a:t>
            </a:r>
            <a:r>
              <a:rPr lang="en-US" dirty="0"/>
              <a:t> The protocol defines a common set of rules and signals that computers on the network use to communicate/The Internet Protocol(IP) is a method or protocol by which a data is sent from one computer to another on the internet.</a:t>
            </a:r>
          </a:p>
          <a:p>
            <a:endParaRPr lang="ar-SA" dirty="0"/>
          </a:p>
        </p:txBody>
      </p:sp>
      <p:sp>
        <p:nvSpPr>
          <p:cNvPr id="6" name="Footer Placeholder 5"/>
          <p:cNvSpPr>
            <a:spLocks noGrp="1"/>
          </p:cNvSpPr>
          <p:nvPr>
            <p:ph type="ftr" sz="quarter" idx="11"/>
          </p:nvPr>
        </p:nvSpPr>
        <p:spPr/>
        <p:txBody>
          <a:bodyPr/>
          <a:lstStyle/>
          <a:p>
            <a:r>
              <a:rPr lang="en-US"/>
              <a:t>Internet Technologies - Chapter 1</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11</a:t>
            </a:fld>
            <a:endParaRPr lang="ar-SA"/>
          </a:p>
        </p:txBody>
      </p:sp>
    </p:spTree>
    <p:extLst>
      <p:ext uri="{BB962C8B-B14F-4D97-AF65-F5344CB8AC3E}">
        <p14:creationId xmlns:p14="http://schemas.microsoft.com/office/powerpoint/2010/main" val="1934965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98410"/>
          </a:xfrm>
        </p:spPr>
        <p:txBody>
          <a:bodyPr/>
          <a:lstStyle/>
          <a:p>
            <a:r>
              <a:rPr lang="en-US" b="1" dirty="0"/>
              <a:t>TCP/IP:</a:t>
            </a:r>
            <a:endParaRPr lang="ar-SA" b="1" dirty="0"/>
          </a:p>
        </p:txBody>
      </p:sp>
      <p:sp>
        <p:nvSpPr>
          <p:cNvPr id="3" name="Content Placeholder 2"/>
          <p:cNvSpPr>
            <a:spLocks noGrp="1"/>
          </p:cNvSpPr>
          <p:nvPr>
            <p:ph idx="1"/>
          </p:nvPr>
        </p:nvSpPr>
        <p:spPr>
          <a:xfrm>
            <a:off x="838200" y="1330036"/>
            <a:ext cx="10515600" cy="5178829"/>
          </a:xfrm>
        </p:spPr>
        <p:txBody>
          <a:bodyPr>
            <a:normAutofit/>
          </a:bodyPr>
          <a:lstStyle/>
          <a:p>
            <a:pPr marL="0" indent="0" algn="just">
              <a:buNone/>
            </a:pPr>
            <a:r>
              <a:rPr lang="en-US" sz="2000" b="1" dirty="0"/>
              <a:t>Comparison of TCP and IP Protocols</a:t>
            </a:r>
          </a:p>
          <a:p>
            <a:pPr marL="0" indent="0" algn="just">
              <a:buNone/>
            </a:pPr>
            <a:r>
              <a:rPr lang="en-US" sz="2000" dirty="0"/>
              <a:t>TCP (Transmission Control Protocol) and IP (Internet Protocol) are two fundamental protocols that work together to enable communication over the internet. While they are often mentioned together as TCP/IP, they have distinct roles:</a:t>
            </a:r>
          </a:p>
          <a:p>
            <a:pPr marL="0" indent="0" algn="just">
              <a:buNone/>
            </a:pPr>
            <a:r>
              <a:rPr lang="en-US" sz="2000" b="1" dirty="0"/>
              <a:t>IP (Internet Protocol): </a:t>
            </a:r>
            <a:r>
              <a:rPr lang="en-US" sz="2000" dirty="0"/>
              <a:t>It uniquely identifies each device connected to the Internet with a unique numerical address called an IP address. This address is what routes packets from one device to another across the network. IP is responsible for routing, i.e. determining the path a packet will take to reach its destination.</a:t>
            </a:r>
            <a:endParaRPr lang="ar-SA" sz="2000" dirty="0"/>
          </a:p>
          <a:p>
            <a:pPr marL="0" indent="0" algn="just">
              <a:buNone/>
            </a:pPr>
            <a:r>
              <a:rPr lang="en-US" sz="2000" b="1" dirty="0"/>
              <a:t>TCP (Transmission Control Protocol): </a:t>
            </a:r>
            <a:r>
              <a:rPr lang="en-US" sz="2000" dirty="0"/>
              <a:t>It makes sure that data reaches its destination completely and in the same order in which it was sent. TCP divides data into small pieces called packets, then reassembles them in the correct order upon arrival. It also makes sure that all packets arrived successfully, and if any packet is lost, it requests it to be resent.</a:t>
            </a:r>
          </a:p>
          <a:p>
            <a:pPr marL="0" indent="0" algn="just">
              <a:buNone/>
            </a:pPr>
            <a:endParaRPr lang="ar-SA" sz="2000" dirty="0"/>
          </a:p>
        </p:txBody>
      </p:sp>
      <p:sp>
        <p:nvSpPr>
          <p:cNvPr id="6" name="Footer Placeholder 5"/>
          <p:cNvSpPr>
            <a:spLocks noGrp="1"/>
          </p:cNvSpPr>
          <p:nvPr>
            <p:ph type="ftr" sz="quarter" idx="11"/>
          </p:nvPr>
        </p:nvSpPr>
        <p:spPr/>
        <p:txBody>
          <a:bodyPr/>
          <a:lstStyle/>
          <a:p>
            <a:r>
              <a:rPr lang="en-US"/>
              <a:t>Internet Technologies - Chapter 1</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12</a:t>
            </a:fld>
            <a:endParaRPr lang="ar-SA"/>
          </a:p>
        </p:txBody>
      </p:sp>
    </p:spTree>
    <p:extLst>
      <p:ext uri="{BB962C8B-B14F-4D97-AF65-F5344CB8AC3E}">
        <p14:creationId xmlns:p14="http://schemas.microsoft.com/office/powerpoint/2010/main" val="4049303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98410"/>
          </a:xfrm>
        </p:spPr>
        <p:txBody>
          <a:bodyPr/>
          <a:lstStyle/>
          <a:p>
            <a:r>
              <a:rPr lang="en-US" b="1" dirty="0"/>
              <a:t>TCP/IP:</a:t>
            </a:r>
            <a:endParaRPr lang="ar-SA" b="1" dirty="0"/>
          </a:p>
        </p:txBody>
      </p:sp>
      <p:graphicFrame>
        <p:nvGraphicFramePr>
          <p:cNvPr id="5" name="جدول 6">
            <a:extLst>
              <a:ext uri="{FF2B5EF4-FFF2-40B4-BE49-F238E27FC236}">
                <a16:creationId xmlns:a16="http://schemas.microsoft.com/office/drawing/2014/main" id="{C49D1592-D112-4783-B22F-7F476FDB5890}"/>
              </a:ext>
            </a:extLst>
          </p:cNvPr>
          <p:cNvGraphicFramePr>
            <a:graphicFrameLocks noGrp="1"/>
          </p:cNvGraphicFramePr>
          <p:nvPr>
            <p:ph idx="1"/>
            <p:extLst>
              <p:ext uri="{D42A27DB-BD31-4B8C-83A1-F6EECF244321}">
                <p14:modId xmlns:p14="http://schemas.microsoft.com/office/powerpoint/2010/main" val="388635956"/>
              </p:ext>
            </p:extLst>
          </p:nvPr>
        </p:nvGraphicFramePr>
        <p:xfrm>
          <a:off x="1023938" y="2286000"/>
          <a:ext cx="9720261" cy="2834640"/>
        </p:xfrm>
        <a:graphic>
          <a:graphicData uri="http://schemas.openxmlformats.org/drawingml/2006/table">
            <a:tbl>
              <a:tblPr firstRow="1" bandRow="1">
                <a:tableStyleId>{21E4AEA4-8DFA-4A89-87EB-49C32662AFE0}</a:tableStyleId>
              </a:tblPr>
              <a:tblGrid>
                <a:gridCol w="3240087">
                  <a:extLst>
                    <a:ext uri="{9D8B030D-6E8A-4147-A177-3AD203B41FA5}">
                      <a16:colId xmlns:a16="http://schemas.microsoft.com/office/drawing/2014/main" val="255198400"/>
                    </a:ext>
                  </a:extLst>
                </a:gridCol>
                <a:gridCol w="3240087">
                  <a:extLst>
                    <a:ext uri="{9D8B030D-6E8A-4147-A177-3AD203B41FA5}">
                      <a16:colId xmlns:a16="http://schemas.microsoft.com/office/drawing/2014/main" val="1462012431"/>
                    </a:ext>
                  </a:extLst>
                </a:gridCol>
                <a:gridCol w="3240087">
                  <a:extLst>
                    <a:ext uri="{9D8B030D-6E8A-4147-A177-3AD203B41FA5}">
                      <a16:colId xmlns:a16="http://schemas.microsoft.com/office/drawing/2014/main" val="3961012582"/>
                    </a:ext>
                  </a:extLst>
                </a:gridCol>
              </a:tblGrid>
              <a:tr h="370840">
                <a:tc>
                  <a:txBody>
                    <a:bodyPr/>
                    <a:lstStyle/>
                    <a:p>
                      <a:pPr rtl="0" fontAlgn="b"/>
                      <a:r>
                        <a:rPr lang="en-US" dirty="0">
                          <a:effectLst/>
                        </a:rPr>
                        <a:t>Feature</a:t>
                      </a:r>
                    </a:p>
                  </a:txBody>
                  <a:tcPr marL="19050" marR="19050" marT="12700" marB="12700" anchor="b"/>
                </a:tc>
                <a:tc>
                  <a:txBody>
                    <a:bodyPr/>
                    <a:lstStyle/>
                    <a:p>
                      <a:pPr rtl="0" fontAlgn="b"/>
                      <a:r>
                        <a:rPr lang="en-US">
                          <a:effectLst/>
                        </a:rPr>
                        <a:t>TCP</a:t>
                      </a:r>
                    </a:p>
                  </a:txBody>
                  <a:tcPr marL="19050" marR="19050" marT="12700" marB="12700" anchor="b"/>
                </a:tc>
                <a:tc>
                  <a:txBody>
                    <a:bodyPr/>
                    <a:lstStyle/>
                    <a:p>
                      <a:pPr rtl="0" fontAlgn="b"/>
                      <a:r>
                        <a:rPr lang="en-US">
                          <a:effectLst/>
                        </a:rPr>
                        <a:t>IP</a:t>
                      </a:r>
                    </a:p>
                  </a:txBody>
                  <a:tcPr marL="19050" marR="19050" marT="12700" marB="12700" anchor="b"/>
                </a:tc>
                <a:extLst>
                  <a:ext uri="{0D108BD9-81ED-4DB2-BD59-A6C34878D82A}">
                    <a16:rowId xmlns:a16="http://schemas.microsoft.com/office/drawing/2014/main" val="722251344"/>
                  </a:ext>
                </a:extLst>
              </a:tr>
              <a:tr h="370840">
                <a:tc>
                  <a:txBody>
                    <a:bodyPr/>
                    <a:lstStyle/>
                    <a:p>
                      <a:pPr rtl="0" fontAlgn="b"/>
                      <a:r>
                        <a:rPr lang="en-US">
                          <a:effectLst/>
                        </a:rPr>
                        <a:t>Basic Function</a:t>
                      </a:r>
                    </a:p>
                  </a:txBody>
                  <a:tcPr marL="19050" marR="19050" marT="12700" marB="12700" anchor="b"/>
                </a:tc>
                <a:tc>
                  <a:txBody>
                    <a:bodyPr/>
                    <a:lstStyle/>
                    <a:p>
                      <a:pPr rtl="0" fontAlgn="b"/>
                      <a:r>
                        <a:rPr lang="en-US">
                          <a:effectLst/>
                        </a:rPr>
                        <a:t>Ensures reliable data delivery</a:t>
                      </a:r>
                    </a:p>
                  </a:txBody>
                  <a:tcPr marL="19050" marR="19050" marT="12700" marB="12700" anchor="b"/>
                </a:tc>
                <a:tc>
                  <a:txBody>
                    <a:bodyPr/>
                    <a:lstStyle/>
                    <a:p>
                      <a:pPr rtl="0" fontAlgn="b"/>
                      <a:r>
                        <a:rPr lang="en-US">
                          <a:effectLst/>
                        </a:rPr>
                        <a:t>Routing data packets</a:t>
                      </a:r>
                    </a:p>
                  </a:txBody>
                  <a:tcPr marL="0" marR="0" marT="12700" marB="12700" anchor="b"/>
                </a:tc>
                <a:extLst>
                  <a:ext uri="{0D108BD9-81ED-4DB2-BD59-A6C34878D82A}">
                    <a16:rowId xmlns:a16="http://schemas.microsoft.com/office/drawing/2014/main" val="3540250769"/>
                  </a:ext>
                </a:extLst>
              </a:tr>
              <a:tr h="370840">
                <a:tc>
                  <a:txBody>
                    <a:bodyPr/>
                    <a:lstStyle/>
                    <a:p>
                      <a:pPr rtl="0" fontAlgn="b"/>
                      <a:r>
                        <a:rPr lang="en-US">
                          <a:effectLst/>
                        </a:rPr>
                        <a:t>Service Type</a:t>
                      </a:r>
                    </a:p>
                  </a:txBody>
                  <a:tcPr marL="19050" marR="19050" marT="12700" marB="12700" anchor="b"/>
                </a:tc>
                <a:tc>
                  <a:txBody>
                    <a:bodyPr/>
                    <a:lstStyle/>
                    <a:p>
                      <a:pPr rtl="0" fontAlgn="b"/>
                      <a:r>
                        <a:rPr lang="en-US">
                          <a:effectLst/>
                        </a:rPr>
                        <a:t>Reliable</a:t>
                      </a:r>
                    </a:p>
                  </a:txBody>
                  <a:tcPr marL="19050" marR="19050" marT="12700" marB="12700" anchor="b"/>
                </a:tc>
                <a:tc>
                  <a:txBody>
                    <a:bodyPr/>
                    <a:lstStyle/>
                    <a:p>
                      <a:pPr rtl="0" fontAlgn="b"/>
                      <a:r>
                        <a:rPr lang="en-US">
                          <a:effectLst/>
                        </a:rPr>
                        <a:t>Unreliable</a:t>
                      </a:r>
                    </a:p>
                  </a:txBody>
                  <a:tcPr marL="19050" marR="19050" marT="12700" marB="12700" anchor="b"/>
                </a:tc>
                <a:extLst>
                  <a:ext uri="{0D108BD9-81ED-4DB2-BD59-A6C34878D82A}">
                    <a16:rowId xmlns:a16="http://schemas.microsoft.com/office/drawing/2014/main" val="2998398850"/>
                  </a:ext>
                </a:extLst>
              </a:tr>
              <a:tr h="370840">
                <a:tc>
                  <a:txBody>
                    <a:bodyPr/>
                    <a:lstStyle/>
                    <a:p>
                      <a:pPr rtl="0" fontAlgn="b"/>
                      <a:r>
                        <a:rPr lang="en-US">
                          <a:effectLst/>
                        </a:rPr>
                        <a:t>Data Segmentation</a:t>
                      </a:r>
                    </a:p>
                  </a:txBody>
                  <a:tcPr marL="19050" marR="19050" marT="12700" marB="12700" anchor="b"/>
                </a:tc>
                <a:tc>
                  <a:txBody>
                    <a:bodyPr/>
                    <a:lstStyle/>
                    <a:p>
                      <a:pPr rtl="0" fontAlgn="b"/>
                      <a:r>
                        <a:rPr lang="en-US">
                          <a:effectLst/>
                        </a:rPr>
                        <a:t>Divides data into segments and reassembles them</a:t>
                      </a:r>
                    </a:p>
                  </a:txBody>
                  <a:tcPr marL="19050" marR="19050" marT="12700" marB="12700" anchor="b"/>
                </a:tc>
                <a:tc>
                  <a:txBody>
                    <a:bodyPr/>
                    <a:lstStyle/>
                    <a:p>
                      <a:pPr rtl="0" fontAlgn="b"/>
                      <a:r>
                        <a:rPr lang="en-US">
                          <a:effectLst/>
                        </a:rPr>
                        <a:t>Doesn't segment data</a:t>
                      </a:r>
                    </a:p>
                  </a:txBody>
                  <a:tcPr marL="0" marR="0" marT="12700" marB="12700" anchor="b"/>
                </a:tc>
                <a:extLst>
                  <a:ext uri="{0D108BD9-81ED-4DB2-BD59-A6C34878D82A}">
                    <a16:rowId xmlns:a16="http://schemas.microsoft.com/office/drawing/2014/main" val="2832539699"/>
                  </a:ext>
                </a:extLst>
              </a:tr>
              <a:tr h="370840">
                <a:tc>
                  <a:txBody>
                    <a:bodyPr/>
                    <a:lstStyle/>
                    <a:p>
                      <a:pPr rtl="0" fontAlgn="b"/>
                      <a:r>
                        <a:rPr lang="en-US">
                          <a:effectLst/>
                        </a:rPr>
                        <a:t>Flow Control</a:t>
                      </a:r>
                    </a:p>
                  </a:txBody>
                  <a:tcPr marL="19050" marR="19050" marT="12700" marB="12700" anchor="b"/>
                </a:tc>
                <a:tc>
                  <a:txBody>
                    <a:bodyPr/>
                    <a:lstStyle/>
                    <a:p>
                      <a:pPr rtl="0" fontAlgn="b"/>
                      <a:r>
                        <a:rPr lang="en-US">
                          <a:effectLst/>
                        </a:rPr>
                        <a:t>Controls data flow to prevent network congestion</a:t>
                      </a:r>
                    </a:p>
                  </a:txBody>
                  <a:tcPr marL="19050" marR="19050" marT="12700" marB="12700" anchor="b"/>
                </a:tc>
                <a:tc>
                  <a:txBody>
                    <a:bodyPr/>
                    <a:lstStyle/>
                    <a:p>
                      <a:pPr rtl="0" fontAlgn="b"/>
                      <a:r>
                        <a:rPr lang="en-US">
                          <a:effectLst/>
                        </a:rPr>
                        <a:t>Doesn't control flow</a:t>
                      </a:r>
                    </a:p>
                  </a:txBody>
                  <a:tcPr marL="0" marR="0" marT="12700" marB="12700" anchor="b"/>
                </a:tc>
                <a:extLst>
                  <a:ext uri="{0D108BD9-81ED-4DB2-BD59-A6C34878D82A}">
                    <a16:rowId xmlns:a16="http://schemas.microsoft.com/office/drawing/2014/main" val="2357253475"/>
                  </a:ext>
                </a:extLst>
              </a:tr>
              <a:tr h="370840">
                <a:tc>
                  <a:txBody>
                    <a:bodyPr/>
                    <a:lstStyle/>
                    <a:p>
                      <a:pPr rtl="0" fontAlgn="b"/>
                      <a:r>
                        <a:rPr lang="en-US">
                          <a:effectLst/>
                        </a:rPr>
                        <a:t>Example</a:t>
                      </a:r>
                    </a:p>
                  </a:txBody>
                  <a:tcPr marL="19050" marR="19050" marT="12700" marB="12700" anchor="b"/>
                </a:tc>
                <a:tc>
                  <a:txBody>
                    <a:bodyPr/>
                    <a:lstStyle/>
                    <a:p>
                      <a:pPr rtl="0" fontAlgn="b"/>
                      <a:r>
                        <a:rPr lang="en-US">
                          <a:effectLst/>
                        </a:rPr>
                        <a:t>File transfers, video calls</a:t>
                      </a:r>
                    </a:p>
                  </a:txBody>
                  <a:tcPr marL="19050" marR="19050" marT="12700" marB="12700" anchor="b"/>
                </a:tc>
                <a:tc>
                  <a:txBody>
                    <a:bodyPr/>
                    <a:lstStyle/>
                    <a:p>
                      <a:pPr rtl="0" fontAlgn="b"/>
                      <a:r>
                        <a:rPr lang="en-US" dirty="0">
                          <a:effectLst/>
                        </a:rPr>
                        <a:t>Web browsing, email (in some cases)</a:t>
                      </a:r>
                    </a:p>
                  </a:txBody>
                  <a:tcPr marL="0" marR="0" marT="12700" marB="12700" anchor="b"/>
                </a:tc>
                <a:extLst>
                  <a:ext uri="{0D108BD9-81ED-4DB2-BD59-A6C34878D82A}">
                    <a16:rowId xmlns:a16="http://schemas.microsoft.com/office/drawing/2014/main" val="2015118435"/>
                  </a:ext>
                </a:extLst>
              </a:tr>
            </a:tbl>
          </a:graphicData>
        </a:graphic>
      </p:graphicFrame>
      <p:sp>
        <p:nvSpPr>
          <p:cNvPr id="6" name="Footer Placeholder 5"/>
          <p:cNvSpPr>
            <a:spLocks noGrp="1"/>
          </p:cNvSpPr>
          <p:nvPr>
            <p:ph type="ftr" sz="quarter" idx="11"/>
          </p:nvPr>
        </p:nvSpPr>
        <p:spPr/>
        <p:txBody>
          <a:bodyPr/>
          <a:lstStyle/>
          <a:p>
            <a:r>
              <a:rPr lang="en-US"/>
              <a:t>Internet Technologies - Chapter 1</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13</a:t>
            </a:fld>
            <a:endParaRPr lang="ar-SA"/>
          </a:p>
        </p:txBody>
      </p:sp>
    </p:spTree>
    <p:extLst>
      <p:ext uri="{BB962C8B-B14F-4D97-AF65-F5344CB8AC3E}">
        <p14:creationId xmlns:p14="http://schemas.microsoft.com/office/powerpoint/2010/main" val="3994838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File Transfer Protocol (FTP):</a:t>
            </a:r>
            <a:endParaRPr lang="ar-SA" b="1" dirty="0"/>
          </a:p>
        </p:txBody>
      </p:sp>
      <p:sp>
        <p:nvSpPr>
          <p:cNvPr id="3" name="Content Placeholder 2"/>
          <p:cNvSpPr>
            <a:spLocks noGrp="1"/>
          </p:cNvSpPr>
          <p:nvPr>
            <p:ph idx="1"/>
          </p:nvPr>
        </p:nvSpPr>
        <p:spPr/>
        <p:txBody>
          <a:bodyPr/>
          <a:lstStyle/>
          <a:p>
            <a:pPr algn="just"/>
            <a:r>
              <a:rPr lang="en-US" dirty="0"/>
              <a:t>FTP is used to copy files from one host to another. FTP offers the mechanism for the same in following manner:</a:t>
            </a:r>
          </a:p>
          <a:p>
            <a:pPr lvl="0" algn="just"/>
            <a:r>
              <a:rPr lang="en-US" dirty="0"/>
              <a:t>FTP creates two processes such as Control Process and Data Transfer Process at both ends i.e. at client as well as at server.</a:t>
            </a:r>
          </a:p>
          <a:p>
            <a:pPr lvl="0" algn="just"/>
            <a:r>
              <a:rPr lang="en-US" dirty="0"/>
              <a:t>FTP establishes two different connections: one is for data transfer and other is for control information.</a:t>
            </a:r>
          </a:p>
          <a:p>
            <a:pPr algn="just"/>
            <a:r>
              <a:rPr lang="en-US" dirty="0"/>
              <a:t>FTP uses </a:t>
            </a:r>
            <a:r>
              <a:rPr lang="en-US" b="1" dirty="0"/>
              <a:t>port 21</a:t>
            </a:r>
            <a:r>
              <a:rPr lang="en-US" dirty="0"/>
              <a:t> for the control connection and </a:t>
            </a:r>
            <a:r>
              <a:rPr lang="en-US" b="1" dirty="0"/>
              <a:t>Port 20</a:t>
            </a:r>
            <a:r>
              <a:rPr lang="en-US" dirty="0"/>
              <a:t> for the data connection.</a:t>
            </a:r>
            <a:endParaRPr lang="ar-SA" dirty="0"/>
          </a:p>
        </p:txBody>
      </p:sp>
      <p:sp>
        <p:nvSpPr>
          <p:cNvPr id="6" name="Footer Placeholder 5"/>
          <p:cNvSpPr>
            <a:spLocks noGrp="1"/>
          </p:cNvSpPr>
          <p:nvPr>
            <p:ph type="ftr" sz="quarter" idx="11"/>
          </p:nvPr>
        </p:nvSpPr>
        <p:spPr/>
        <p:txBody>
          <a:bodyPr/>
          <a:lstStyle/>
          <a:p>
            <a:r>
              <a:rPr lang="en-US"/>
              <a:t>Internet Technologies - Chapter 1</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14</a:t>
            </a:fld>
            <a:endParaRPr lang="ar-SA"/>
          </a:p>
        </p:txBody>
      </p:sp>
    </p:spTree>
    <p:extLst>
      <p:ext uri="{BB962C8B-B14F-4D97-AF65-F5344CB8AC3E}">
        <p14:creationId xmlns:p14="http://schemas.microsoft.com/office/powerpoint/2010/main" val="4157752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File Transfer Protocol (FTP):</a:t>
            </a:r>
            <a:endParaRPr lang="ar-SA" b="1" dirty="0"/>
          </a:p>
        </p:txBody>
      </p:sp>
      <p:pic>
        <p:nvPicPr>
          <p:cNvPr id="4" name="Content Placeholder 3"/>
          <p:cNvPicPr>
            <a:picLocks noGrp="1" noChangeAspect="1"/>
          </p:cNvPicPr>
          <p:nvPr>
            <p:ph idx="1"/>
          </p:nvPr>
        </p:nvPicPr>
        <p:blipFill>
          <a:blip r:embed="rId2" cstate="print"/>
          <a:stretch>
            <a:fillRect/>
          </a:stretch>
        </p:blipFill>
        <p:spPr>
          <a:xfrm>
            <a:off x="2086496" y="1886989"/>
            <a:ext cx="7265322" cy="3832167"/>
          </a:xfrm>
          <a:prstGeom prst="rect">
            <a:avLst/>
          </a:prstGeom>
        </p:spPr>
      </p:pic>
      <p:sp>
        <p:nvSpPr>
          <p:cNvPr id="7" name="Footer Placeholder 6"/>
          <p:cNvSpPr>
            <a:spLocks noGrp="1"/>
          </p:cNvSpPr>
          <p:nvPr>
            <p:ph type="ftr" sz="quarter" idx="11"/>
          </p:nvPr>
        </p:nvSpPr>
        <p:spPr/>
        <p:txBody>
          <a:bodyPr/>
          <a:lstStyle/>
          <a:p>
            <a:r>
              <a:rPr lang="en-US"/>
              <a:t>Internet Technologies - Chapter 1</a:t>
            </a:r>
            <a:endParaRPr lang="ar-SA"/>
          </a:p>
        </p:txBody>
      </p:sp>
      <p:sp>
        <p:nvSpPr>
          <p:cNvPr id="5" name="Slide Number Placeholder 4"/>
          <p:cNvSpPr>
            <a:spLocks noGrp="1"/>
          </p:cNvSpPr>
          <p:nvPr>
            <p:ph type="sldNum" sz="quarter" idx="12"/>
          </p:nvPr>
        </p:nvSpPr>
        <p:spPr/>
        <p:txBody>
          <a:bodyPr/>
          <a:lstStyle/>
          <a:p>
            <a:fld id="{0E432819-B1C9-4D2F-8F6B-911D67ACBAA2}" type="slidenum">
              <a:rPr lang="ar-SA" smtClean="0"/>
              <a:pPr/>
              <a:t>15</a:t>
            </a:fld>
            <a:endParaRPr lang="ar-SA"/>
          </a:p>
        </p:txBody>
      </p:sp>
    </p:spTree>
    <p:extLst>
      <p:ext uri="{BB962C8B-B14F-4D97-AF65-F5344CB8AC3E}">
        <p14:creationId xmlns:p14="http://schemas.microsoft.com/office/powerpoint/2010/main" val="40001100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تكامل">
  <a:themeElements>
    <a:clrScheme name="تكامل">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تكامل">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تكامل">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37</TotalTime>
  <Words>1447</Words>
  <Application>Microsoft Office PowerPoint</Application>
  <PresentationFormat>شاشة عريضة</PresentationFormat>
  <Paragraphs>110</Paragraphs>
  <Slides>15</Slides>
  <Notes>0</Notes>
  <HiddenSlides>0</HiddenSlides>
  <MMClips>0</MMClips>
  <ScaleCrop>false</ScaleCrop>
  <HeadingPairs>
    <vt:vector size="6" baseType="variant">
      <vt:variant>
        <vt:lpstr>الخطوط المستخدمة</vt:lpstr>
      </vt:variant>
      <vt:variant>
        <vt:i4>4</vt:i4>
      </vt:variant>
      <vt:variant>
        <vt:lpstr>نسق</vt:lpstr>
      </vt:variant>
      <vt:variant>
        <vt:i4>1</vt:i4>
      </vt:variant>
      <vt:variant>
        <vt:lpstr>عناوين الشرائح</vt:lpstr>
      </vt:variant>
      <vt:variant>
        <vt:i4>15</vt:i4>
      </vt:variant>
    </vt:vector>
  </HeadingPairs>
  <TitlesOfParts>
    <vt:vector size="20" baseType="lpstr">
      <vt:lpstr>Calibri</vt:lpstr>
      <vt:lpstr>Tw Cen MT</vt:lpstr>
      <vt:lpstr>Tw Cen MT Condensed</vt:lpstr>
      <vt:lpstr>Wingdings 3</vt:lpstr>
      <vt:lpstr>تكامل</vt:lpstr>
      <vt:lpstr>Internet Technologies MIS-341-4</vt:lpstr>
      <vt:lpstr>Internet and its uses</vt:lpstr>
      <vt:lpstr>Advantages &amp; Disadvantages of Internet</vt:lpstr>
      <vt:lpstr>Disadvantages of Internet:</vt:lpstr>
      <vt:lpstr>Internet Applications:</vt:lpstr>
      <vt:lpstr>Internet Applications:</vt:lpstr>
      <vt:lpstr>Internet Applications:</vt:lpstr>
      <vt:lpstr>Internet Applications:</vt:lpstr>
      <vt:lpstr>Network and Connectors:</vt:lpstr>
      <vt:lpstr>Networks Characteristics &amp; Topologies:</vt:lpstr>
      <vt:lpstr>Servers, Internet Protocols:</vt:lpstr>
      <vt:lpstr>TCP/IP:</vt:lpstr>
      <vt:lpstr>TCP/IP:</vt:lpstr>
      <vt:lpstr>File Transfer Protocol (FTP):</vt:lpstr>
      <vt:lpstr>File Transfer Protocol (FTP):</vt:lpstr>
    </vt:vector>
  </TitlesOfParts>
  <Company>KING KHALID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Technologies</dc:title>
  <dc:creator>MUHAMMAD DILDAR</dc:creator>
  <cp:lastModifiedBy>omer ltag</cp:lastModifiedBy>
  <cp:revision>7</cp:revision>
  <dcterms:created xsi:type="dcterms:W3CDTF">2022-12-13T07:08:36Z</dcterms:created>
  <dcterms:modified xsi:type="dcterms:W3CDTF">2025-02-23T09:40:27Z</dcterms:modified>
</cp:coreProperties>
</file>
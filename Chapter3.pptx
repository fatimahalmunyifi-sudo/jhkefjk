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5" d="100"/>
          <a:sy n="95" d="100"/>
        </p:scale>
        <p:origin x="163"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mer ltag" userId="83a4243e0f7a2aa8" providerId="LiveId" clId="{5FB75A56-F2CF-441B-838F-0CB047936B08}"/>
    <pc:docChg chg="modSld">
      <pc:chgData name="omer ltag" userId="83a4243e0f7a2aa8" providerId="LiveId" clId="{5FB75A56-F2CF-441B-838F-0CB047936B08}" dt="2025-02-26T19:50:01.500" v="0" actId="14100"/>
      <pc:docMkLst>
        <pc:docMk/>
      </pc:docMkLst>
      <pc:sldChg chg="modSp mod">
        <pc:chgData name="omer ltag" userId="83a4243e0f7a2aa8" providerId="LiveId" clId="{5FB75A56-F2CF-441B-838F-0CB047936B08}" dt="2025-02-26T19:50:01.500" v="0" actId="14100"/>
        <pc:sldMkLst>
          <pc:docMk/>
          <pc:sldMk cId="4246051266" sldId="258"/>
        </pc:sldMkLst>
        <pc:spChg chg="mod">
          <ac:chgData name="omer ltag" userId="83a4243e0f7a2aa8" providerId="LiveId" clId="{5FB75A56-F2CF-441B-838F-0CB047936B08}" dt="2025-02-26T19:50:01.500" v="0" actId="14100"/>
          <ac:spMkLst>
            <pc:docMk/>
            <pc:sldMk cId="4246051266" sldId="258"/>
            <ac:spMk id="8" creationId="{00000000-0000-0000-0000-000000000000}"/>
          </ac:spMkLst>
        </pc:spChg>
      </pc:sldChg>
    </pc:docChg>
  </pc:docChgLst>
  <pc:docChgLst>
    <pc:chgData name="Raghad Asiri" userId="02591a92edc1e609" providerId="LiveId" clId="{32692A82-FA30-4D66-8CF6-F11F84C8FF50}"/>
    <pc:docChg chg="modSld">
      <pc:chgData name="Raghad Asiri" userId="02591a92edc1e609" providerId="LiveId" clId="{32692A82-FA30-4D66-8CF6-F11F84C8FF50}" dt="2024-09-14T15:06:19.988" v="0"/>
      <pc:docMkLst>
        <pc:docMk/>
      </pc:docMkLst>
      <pc:sldChg chg="modSp">
        <pc:chgData name="Raghad Asiri" userId="02591a92edc1e609" providerId="LiveId" clId="{32692A82-FA30-4D66-8CF6-F11F84C8FF50}" dt="2024-09-14T15:06:19.988" v="0"/>
        <pc:sldMkLst>
          <pc:docMk/>
          <pc:sldMk cId="603625458" sldId="256"/>
        </pc:sldMkLst>
      </pc:sldChg>
      <pc:sldChg chg="modSp">
        <pc:chgData name="Raghad Asiri" userId="02591a92edc1e609" providerId="LiveId" clId="{32692A82-FA30-4D66-8CF6-F11F84C8FF50}" dt="2024-09-14T15:06:19.988" v="0"/>
        <pc:sldMkLst>
          <pc:docMk/>
          <pc:sldMk cId="505428391" sldId="257"/>
        </pc:sldMkLst>
      </pc:sldChg>
      <pc:sldChg chg="modSp">
        <pc:chgData name="Raghad Asiri" userId="02591a92edc1e609" providerId="LiveId" clId="{32692A82-FA30-4D66-8CF6-F11F84C8FF50}" dt="2024-09-14T15:06:19.988" v="0"/>
        <pc:sldMkLst>
          <pc:docMk/>
          <pc:sldMk cId="4246051266" sldId="258"/>
        </pc:sldMkLst>
      </pc:sldChg>
      <pc:sldChg chg="modSp">
        <pc:chgData name="Raghad Asiri" userId="02591a92edc1e609" providerId="LiveId" clId="{32692A82-FA30-4D66-8CF6-F11F84C8FF50}" dt="2024-09-14T15:06:19.988" v="0"/>
        <pc:sldMkLst>
          <pc:docMk/>
          <pc:sldMk cId="3837220228" sldId="259"/>
        </pc:sldMkLst>
      </pc:sldChg>
      <pc:sldChg chg="modSp">
        <pc:chgData name="Raghad Asiri" userId="02591a92edc1e609" providerId="LiveId" clId="{32692A82-FA30-4D66-8CF6-F11F84C8FF50}" dt="2024-09-14T15:06:19.988" v="0"/>
        <pc:sldMkLst>
          <pc:docMk/>
          <pc:sldMk cId="2995488705" sldId="260"/>
        </pc:sldMkLst>
      </pc:sldChg>
      <pc:sldChg chg="modSp">
        <pc:chgData name="Raghad Asiri" userId="02591a92edc1e609" providerId="LiveId" clId="{32692A82-FA30-4D66-8CF6-F11F84C8FF50}" dt="2024-09-14T15:06:19.988" v="0"/>
        <pc:sldMkLst>
          <pc:docMk/>
          <pc:sldMk cId="1177343623" sldId="261"/>
        </pc:sldMkLst>
      </pc:sldChg>
      <pc:sldChg chg="modSp">
        <pc:chgData name="Raghad Asiri" userId="02591a92edc1e609" providerId="LiveId" clId="{32692A82-FA30-4D66-8CF6-F11F84C8FF50}" dt="2024-09-14T15:06:19.988" v="0"/>
        <pc:sldMkLst>
          <pc:docMk/>
          <pc:sldMk cId="2138405146" sldId="262"/>
        </pc:sldMkLst>
      </pc:sldChg>
      <pc:sldChg chg="modSp">
        <pc:chgData name="Raghad Asiri" userId="02591a92edc1e609" providerId="LiveId" clId="{32692A82-FA30-4D66-8CF6-F11F84C8FF50}" dt="2024-09-14T15:06:19.988" v="0"/>
        <pc:sldMkLst>
          <pc:docMk/>
          <pc:sldMk cId="2301510931" sldId="263"/>
        </pc:sldMkLst>
      </pc:sldChg>
      <pc:sldChg chg="modSp">
        <pc:chgData name="Raghad Asiri" userId="02591a92edc1e609" providerId="LiveId" clId="{32692A82-FA30-4D66-8CF6-F11F84C8FF50}" dt="2024-09-14T15:06:19.988" v="0"/>
        <pc:sldMkLst>
          <pc:docMk/>
          <pc:sldMk cId="3635736389" sldId="264"/>
        </pc:sldMkLst>
      </pc:sldChg>
      <pc:sldChg chg="modSp">
        <pc:chgData name="Raghad Asiri" userId="02591a92edc1e609" providerId="LiveId" clId="{32692A82-FA30-4D66-8CF6-F11F84C8FF50}" dt="2024-09-14T15:06:19.988" v="0"/>
        <pc:sldMkLst>
          <pc:docMk/>
          <pc:sldMk cId="364351502" sldId="265"/>
        </pc:sldMkLst>
      </pc:sldChg>
      <pc:sldChg chg="modSp">
        <pc:chgData name="Raghad Asiri" userId="02591a92edc1e609" providerId="LiveId" clId="{32692A82-FA30-4D66-8CF6-F11F84C8FF50}" dt="2024-09-14T15:06:19.988" v="0"/>
        <pc:sldMkLst>
          <pc:docMk/>
          <pc:sldMk cId="3527924906"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90E902A-56F1-439F-BA08-614A31AA637A}" type="datetimeFigureOut">
              <a:rPr lang="en-US" smtClean="0"/>
              <a:pPr/>
              <a:t>2/26/2025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D122DF1-EB94-4C6B-BD7E-715D8733FF0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شريحة عنوان">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ar-SA"/>
              <a:t>انقر لتحرير نمط عنوان الشكل الرئيسي</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ar-SA"/>
              <a:t>انقر لتحرير نمط العنوان الفرعي للشكل الرئيسي</a:t>
            </a:r>
            <a:endParaRPr lang="en-US" dirty="0"/>
          </a:p>
        </p:txBody>
      </p:sp>
      <p:sp>
        <p:nvSpPr>
          <p:cNvPr id="4" name="Date Placeholder 3"/>
          <p:cNvSpPr>
            <a:spLocks noGrp="1"/>
          </p:cNvSpPr>
          <p:nvPr>
            <p:ph type="dt" sz="half" idx="10"/>
          </p:nvPr>
        </p:nvSpPr>
        <p:spPr/>
        <p:txBody>
          <a:bodyPr/>
          <a:lstStyle>
            <a:lvl1pPr algn="l">
              <a:defRPr/>
            </a:lvl1pPr>
          </a:lstStyle>
          <a:p>
            <a:fld id="{E2AD3082-4EA2-40A2-9A52-2584DCCA79EC}" type="datetime1">
              <a:rPr lang="ar-SA" smtClean="0"/>
              <a:pPr/>
              <a:t>28/08/46</a:t>
            </a:fld>
            <a:endParaRPr lang="ar-SA"/>
          </a:p>
        </p:txBody>
      </p:sp>
      <p:sp>
        <p:nvSpPr>
          <p:cNvPr id="5" name="Footer Placeholder 4"/>
          <p:cNvSpPr>
            <a:spLocks noGrp="1"/>
          </p:cNvSpPr>
          <p:nvPr>
            <p:ph type="ftr" sz="quarter" idx="11"/>
          </p:nvPr>
        </p:nvSpPr>
        <p:spPr/>
        <p:txBody>
          <a:bodyPr/>
          <a:lstStyle/>
          <a:p>
            <a:r>
              <a:rPr lang="en-US"/>
              <a:t>Internet Technologies - Chapter 3</a:t>
            </a:r>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pPr/>
              <a:t>‹#›</a:t>
            </a:fld>
            <a:endParaRPr lang="ar-SA"/>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2410876"/>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Content Placeholder 2"/>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E2AD3082-4EA2-40A2-9A52-2584DCCA79EC}" type="datetime1">
              <a:rPr lang="ar-SA" smtClean="0"/>
              <a:pPr/>
              <a:t>28/08/46</a:t>
            </a:fld>
            <a:endParaRPr lang="ar-SA"/>
          </a:p>
        </p:txBody>
      </p:sp>
      <p:sp>
        <p:nvSpPr>
          <p:cNvPr id="5" name="Footer Placeholder 4"/>
          <p:cNvSpPr>
            <a:spLocks noGrp="1"/>
          </p:cNvSpPr>
          <p:nvPr>
            <p:ph type="ftr" sz="quarter" idx="11"/>
          </p:nvPr>
        </p:nvSpPr>
        <p:spPr/>
        <p:txBody>
          <a:bodyPr/>
          <a:lstStyle/>
          <a:p>
            <a:r>
              <a:rPr lang="en-US"/>
              <a:t>Internet Technologies - Chapter 3</a:t>
            </a:r>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2301816615"/>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عنوان المقطع">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p:txBody>
          <a:bodyPr/>
          <a:lstStyle/>
          <a:p>
            <a:fld id="{E2AD3082-4EA2-40A2-9A52-2584DCCA79EC}" type="datetime1">
              <a:rPr lang="ar-SA" smtClean="0"/>
              <a:pPr/>
              <a:t>28/08/46</a:t>
            </a:fld>
            <a:endParaRPr lang="ar-SA"/>
          </a:p>
        </p:txBody>
      </p:sp>
      <p:sp>
        <p:nvSpPr>
          <p:cNvPr id="5" name="Footer Placeholder 4"/>
          <p:cNvSpPr>
            <a:spLocks noGrp="1"/>
          </p:cNvSpPr>
          <p:nvPr>
            <p:ph type="ftr" sz="quarter" idx="11"/>
          </p:nvPr>
        </p:nvSpPr>
        <p:spPr/>
        <p:txBody>
          <a:bodyPr/>
          <a:lstStyle/>
          <a:p>
            <a:r>
              <a:rPr lang="en-US"/>
              <a:t>Internet Technologies - Chapter 3</a:t>
            </a:r>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pPr/>
              <a:t>‹#›</a:t>
            </a:fld>
            <a:endParaRPr lang="ar-SA"/>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4891338"/>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ar-SA"/>
              <a:t>انقر لتحرير نمط عنوان الشكل الرئيسي</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Date Placeholder 4"/>
          <p:cNvSpPr>
            <a:spLocks noGrp="1"/>
          </p:cNvSpPr>
          <p:nvPr>
            <p:ph type="dt" sz="half" idx="10"/>
          </p:nvPr>
        </p:nvSpPr>
        <p:spPr/>
        <p:txBody>
          <a:bodyPr/>
          <a:lstStyle/>
          <a:p>
            <a:fld id="{E2AD3082-4EA2-40A2-9A52-2584DCCA79EC}" type="datetime1">
              <a:rPr lang="ar-SA" smtClean="0"/>
              <a:pPr/>
              <a:t>28/08/46</a:t>
            </a:fld>
            <a:endParaRPr lang="ar-SA"/>
          </a:p>
        </p:txBody>
      </p:sp>
      <p:sp>
        <p:nvSpPr>
          <p:cNvPr id="6" name="Footer Placeholder 5"/>
          <p:cNvSpPr>
            <a:spLocks noGrp="1"/>
          </p:cNvSpPr>
          <p:nvPr>
            <p:ph type="ftr" sz="quarter" idx="11"/>
          </p:nvPr>
        </p:nvSpPr>
        <p:spPr/>
        <p:txBody>
          <a:bodyPr/>
          <a:lstStyle/>
          <a:p>
            <a:r>
              <a:rPr lang="en-US"/>
              <a:t>Internet Technologies - Chapter 3</a:t>
            </a:r>
            <a:endParaRPr lang="ar-SA"/>
          </a:p>
        </p:txBody>
      </p:sp>
      <p:sp>
        <p:nvSpPr>
          <p:cNvPr id="7" name="Slide Number Placeholder 6"/>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1831561675"/>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Content Placeholder 3"/>
          <p:cNvSpPr>
            <a:spLocks noGrp="1"/>
          </p:cNvSpPr>
          <p:nvPr>
            <p:ph sz="half" idx="2"/>
          </p:nvPr>
        </p:nvSpPr>
        <p:spPr>
          <a:xfrm>
            <a:off x="1024128" y="2967788"/>
            <a:ext cx="4754880" cy="3341572"/>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ar-SA"/>
              <a:t>انقر لتحرير أنماط نص الشكل الرئيسي</a:t>
            </a:r>
          </a:p>
        </p:txBody>
      </p:sp>
      <p:sp>
        <p:nvSpPr>
          <p:cNvPr id="6" name="Content Placeholder 5"/>
          <p:cNvSpPr>
            <a:spLocks noGrp="1"/>
          </p:cNvSpPr>
          <p:nvPr>
            <p:ph sz="quarter" idx="4"/>
          </p:nvPr>
        </p:nvSpPr>
        <p:spPr>
          <a:xfrm>
            <a:off x="5990888" y="2967788"/>
            <a:ext cx="4754880" cy="3341572"/>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7" name="Date Placeholder 6"/>
          <p:cNvSpPr>
            <a:spLocks noGrp="1"/>
          </p:cNvSpPr>
          <p:nvPr>
            <p:ph type="dt" sz="half" idx="10"/>
          </p:nvPr>
        </p:nvSpPr>
        <p:spPr/>
        <p:txBody>
          <a:bodyPr/>
          <a:lstStyle/>
          <a:p>
            <a:fld id="{E2AD3082-4EA2-40A2-9A52-2584DCCA79EC}" type="datetime1">
              <a:rPr lang="ar-SA" smtClean="0"/>
              <a:pPr/>
              <a:t>28/08/46</a:t>
            </a:fld>
            <a:endParaRPr lang="ar-SA"/>
          </a:p>
        </p:txBody>
      </p:sp>
      <p:sp>
        <p:nvSpPr>
          <p:cNvPr id="8" name="Footer Placeholder 7"/>
          <p:cNvSpPr>
            <a:spLocks noGrp="1"/>
          </p:cNvSpPr>
          <p:nvPr>
            <p:ph type="ftr" sz="quarter" idx="11"/>
          </p:nvPr>
        </p:nvSpPr>
        <p:spPr/>
        <p:txBody>
          <a:bodyPr/>
          <a:lstStyle/>
          <a:p>
            <a:r>
              <a:rPr lang="en-US"/>
              <a:t>Internet Technologies - Chapter 3</a:t>
            </a:r>
            <a:endParaRPr lang="ar-SA"/>
          </a:p>
        </p:txBody>
      </p:sp>
      <p:sp>
        <p:nvSpPr>
          <p:cNvPr id="9" name="Slide Number Placeholder 8"/>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3907668656"/>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Date Placeholder 2"/>
          <p:cNvSpPr>
            <a:spLocks noGrp="1"/>
          </p:cNvSpPr>
          <p:nvPr>
            <p:ph type="dt" sz="half" idx="10"/>
          </p:nvPr>
        </p:nvSpPr>
        <p:spPr/>
        <p:txBody>
          <a:bodyPr/>
          <a:lstStyle/>
          <a:p>
            <a:fld id="{E2AD3082-4EA2-40A2-9A52-2584DCCA79EC}" type="datetime1">
              <a:rPr lang="ar-SA" smtClean="0"/>
              <a:pPr/>
              <a:t>28/08/46</a:t>
            </a:fld>
            <a:endParaRPr lang="ar-SA"/>
          </a:p>
        </p:txBody>
      </p:sp>
      <p:sp>
        <p:nvSpPr>
          <p:cNvPr id="4" name="Footer Placeholder 3"/>
          <p:cNvSpPr>
            <a:spLocks noGrp="1"/>
          </p:cNvSpPr>
          <p:nvPr>
            <p:ph type="ftr" sz="quarter" idx="11"/>
          </p:nvPr>
        </p:nvSpPr>
        <p:spPr/>
        <p:txBody>
          <a:bodyPr/>
          <a:lstStyle/>
          <a:p>
            <a:r>
              <a:rPr lang="en-US"/>
              <a:t>Internet Technologies - Chapter 3</a:t>
            </a:r>
            <a:endParaRPr lang="ar-SA"/>
          </a:p>
        </p:txBody>
      </p:sp>
      <p:sp>
        <p:nvSpPr>
          <p:cNvPr id="5" name="Slide Number Placeholder 4"/>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702903343"/>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فارغ">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AD3082-4EA2-40A2-9A52-2584DCCA79EC}" type="datetime1">
              <a:rPr lang="ar-SA" smtClean="0"/>
              <a:pPr/>
              <a:t>28/08/46</a:t>
            </a:fld>
            <a:endParaRPr lang="ar-SA"/>
          </a:p>
        </p:txBody>
      </p:sp>
      <p:sp>
        <p:nvSpPr>
          <p:cNvPr id="3" name="Footer Placeholder 2"/>
          <p:cNvSpPr>
            <a:spLocks noGrp="1"/>
          </p:cNvSpPr>
          <p:nvPr>
            <p:ph type="ftr" sz="quarter" idx="11"/>
          </p:nvPr>
        </p:nvSpPr>
        <p:spPr/>
        <p:txBody>
          <a:bodyPr/>
          <a:lstStyle/>
          <a:p>
            <a:r>
              <a:rPr lang="en-US"/>
              <a:t>Internet Technologies - Chapter 3</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3355954888"/>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ar-SA"/>
              <a:t>انقر لتحرير نمط عنوان الشكل الرئيسي</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E2AD3082-4EA2-40A2-9A52-2584DCCA79EC}" type="datetime1">
              <a:rPr lang="ar-SA" smtClean="0"/>
              <a:pPr/>
              <a:t>28/08/46</a:t>
            </a:fld>
            <a:endParaRPr lang="ar-SA"/>
          </a:p>
        </p:txBody>
      </p:sp>
      <p:sp>
        <p:nvSpPr>
          <p:cNvPr id="6" name="Footer Placeholder 5"/>
          <p:cNvSpPr>
            <a:spLocks noGrp="1"/>
          </p:cNvSpPr>
          <p:nvPr>
            <p:ph type="ftr" sz="quarter" idx="11"/>
          </p:nvPr>
        </p:nvSpPr>
        <p:spPr/>
        <p:txBody>
          <a:bodyPr/>
          <a:lstStyle/>
          <a:p>
            <a:r>
              <a:rPr lang="en-US"/>
              <a:t>Internet Technologies - Chapter 3</a:t>
            </a:r>
            <a:endParaRPr lang="ar-SA"/>
          </a:p>
        </p:txBody>
      </p:sp>
      <p:sp>
        <p:nvSpPr>
          <p:cNvPr id="7" name="Slide Number Placeholder 6"/>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517438709"/>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صورة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ar-SA"/>
              <a:t>انقر لتحرير نمط عنوان الشكل الرئيسي</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SA"/>
              <a:t>انقر فوق الأيقونة لإضافة صورة</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E2AD3082-4EA2-40A2-9A52-2584DCCA79EC}" type="datetime1">
              <a:rPr lang="ar-SA" smtClean="0"/>
              <a:pPr/>
              <a:t>28/08/46</a:t>
            </a:fld>
            <a:endParaRPr lang="ar-SA"/>
          </a:p>
        </p:txBody>
      </p:sp>
      <p:sp>
        <p:nvSpPr>
          <p:cNvPr id="6" name="Footer Placeholder 5"/>
          <p:cNvSpPr>
            <a:spLocks noGrp="1"/>
          </p:cNvSpPr>
          <p:nvPr>
            <p:ph type="ftr" sz="quarter" idx="11"/>
          </p:nvPr>
        </p:nvSpPr>
        <p:spPr/>
        <p:txBody>
          <a:bodyPr/>
          <a:lstStyle/>
          <a:p>
            <a:r>
              <a:rPr lang="en-US"/>
              <a:t>Internet Technologies - Chapter 3</a:t>
            </a:r>
            <a:endParaRPr lang="ar-SA"/>
          </a:p>
        </p:txBody>
      </p:sp>
      <p:sp>
        <p:nvSpPr>
          <p:cNvPr id="7" name="Slide Number Placeholder 6"/>
          <p:cNvSpPr>
            <a:spLocks noGrp="1"/>
          </p:cNvSpPr>
          <p:nvPr>
            <p:ph type="sldNum" sz="quarter" idx="12"/>
          </p:nvPr>
        </p:nvSpPr>
        <p:spPr/>
        <p:txBody>
          <a:bodyPr/>
          <a:lstStyle/>
          <a:p>
            <a:fld id="{0E432819-B1C9-4D2F-8F6B-911D67ACBAA2}" type="slidenum">
              <a:rPr lang="ar-SA" smtClean="0"/>
              <a:pPr/>
              <a:t>‹#›</a:t>
            </a:fld>
            <a:endParaRPr lang="ar-SA"/>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5220147"/>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E2AD3082-4EA2-40A2-9A52-2584DCCA79EC}" type="datetime1">
              <a:rPr lang="ar-SA" smtClean="0"/>
              <a:pPr/>
              <a:t>28/08/46</a:t>
            </a:fld>
            <a:endParaRPr lang="ar-SA"/>
          </a:p>
        </p:txBody>
      </p:sp>
      <p:sp>
        <p:nvSpPr>
          <p:cNvPr id="5" name="Footer Placeholder 4"/>
          <p:cNvSpPr>
            <a:spLocks noGrp="1"/>
          </p:cNvSpPr>
          <p:nvPr>
            <p:ph type="ftr" sz="quarter" idx="11"/>
          </p:nvPr>
        </p:nvSpPr>
        <p:spPr/>
        <p:txBody>
          <a:bodyPr/>
          <a:lstStyle/>
          <a:p>
            <a:r>
              <a:rPr lang="en-US"/>
              <a:t>Internet Technologies - Chapter 3</a:t>
            </a:r>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4065002622"/>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عنوان ونص عموديان">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E2AD3082-4EA2-40A2-9A52-2584DCCA79EC}" type="datetime1">
              <a:rPr lang="ar-SA" smtClean="0"/>
              <a:pPr/>
              <a:t>28/08/46</a:t>
            </a:fld>
            <a:endParaRPr lang="ar-SA"/>
          </a:p>
        </p:txBody>
      </p:sp>
      <p:sp>
        <p:nvSpPr>
          <p:cNvPr id="5" name="Footer Placeholder 4"/>
          <p:cNvSpPr>
            <a:spLocks noGrp="1"/>
          </p:cNvSpPr>
          <p:nvPr>
            <p:ph type="ftr" sz="quarter" idx="11"/>
          </p:nvPr>
        </p:nvSpPr>
        <p:spPr/>
        <p:txBody>
          <a:bodyPr/>
          <a:lstStyle/>
          <a:p>
            <a:r>
              <a:rPr lang="en-US"/>
              <a:t>Internet Technologies - Chapter 3</a:t>
            </a:r>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pPr/>
              <a:t>‹#›</a:t>
            </a:fld>
            <a:endParaRPr lang="ar-SA"/>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5970104"/>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2AD3082-4EA2-40A2-9A52-2584DCCA79EC}" type="datetime1">
              <a:rPr lang="ar-SA" smtClean="0"/>
              <a:pPr/>
              <a:t>28/08/46</a:t>
            </a:fld>
            <a:endParaRPr lang="ar-SA"/>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a:t>Internet Technologies - Chapter 3</a:t>
            </a:r>
            <a:endParaRPr lang="ar-SA"/>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E432819-B1C9-4D2F-8F6B-911D67ACBAA2}" type="slidenum">
              <a:rPr lang="ar-SA" smtClean="0"/>
              <a:pPr/>
              <a:t>‹#›</a:t>
            </a:fld>
            <a:endParaRPr lang="ar-SA"/>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559952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Internet Technologies</a:t>
            </a:r>
            <a:br>
              <a:rPr lang="en-US" dirty="0"/>
            </a:br>
            <a:r>
              <a:rPr lang="en-US" dirty="0"/>
              <a:t>MIS-341-4</a:t>
            </a:r>
            <a:endParaRPr lang="ar-SA" dirty="0"/>
          </a:p>
        </p:txBody>
      </p:sp>
      <p:sp>
        <p:nvSpPr>
          <p:cNvPr id="3" name="Subtitle 2"/>
          <p:cNvSpPr>
            <a:spLocks noGrp="1"/>
          </p:cNvSpPr>
          <p:nvPr>
            <p:ph type="subTitle" idx="1"/>
          </p:nvPr>
        </p:nvSpPr>
        <p:spPr/>
        <p:txBody>
          <a:bodyPr>
            <a:normAutofit/>
          </a:bodyPr>
          <a:lstStyle/>
          <a:p>
            <a:endParaRPr lang="en-US" sz="4400" dirty="0"/>
          </a:p>
          <a:p>
            <a:r>
              <a:rPr lang="en-US" sz="4400" dirty="0"/>
              <a:t>Chapter 3</a:t>
            </a:r>
            <a:endParaRPr lang="ar-SA" sz="4400" dirty="0"/>
          </a:p>
        </p:txBody>
      </p:sp>
      <p:sp>
        <p:nvSpPr>
          <p:cNvPr id="5" name="Footer Placeholder 4"/>
          <p:cNvSpPr>
            <a:spLocks noGrp="1"/>
          </p:cNvSpPr>
          <p:nvPr>
            <p:ph type="ftr" sz="quarter" idx="11"/>
          </p:nvPr>
        </p:nvSpPr>
        <p:spPr/>
        <p:txBody>
          <a:bodyPr/>
          <a:lstStyle/>
          <a:p>
            <a:r>
              <a:rPr lang="en-US"/>
              <a:t>Internet Technologies - Chapter 3</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1</a:t>
            </a:fld>
            <a:endParaRPr lang="ar-SA"/>
          </a:p>
        </p:txBody>
      </p:sp>
    </p:spTree>
    <p:extLst>
      <p:ext uri="{BB962C8B-B14F-4D97-AF65-F5344CB8AC3E}">
        <p14:creationId xmlns:p14="http://schemas.microsoft.com/office/powerpoint/2010/main" val="603625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 to HTML</a:t>
            </a:r>
            <a:endParaRPr lang="ar-SA" dirty="0"/>
          </a:p>
        </p:txBody>
      </p:sp>
      <p:sp>
        <p:nvSpPr>
          <p:cNvPr id="3" name="Content Placeholder 2"/>
          <p:cNvSpPr>
            <a:spLocks noGrp="1"/>
          </p:cNvSpPr>
          <p:nvPr>
            <p:ph idx="1"/>
          </p:nvPr>
        </p:nvSpPr>
        <p:spPr>
          <a:xfrm>
            <a:off x="838200" y="1690688"/>
            <a:ext cx="10515600" cy="4486275"/>
          </a:xfrm>
        </p:spPr>
        <p:txBody>
          <a:bodyPr>
            <a:normAutofit/>
          </a:bodyPr>
          <a:lstStyle/>
          <a:p>
            <a:r>
              <a:rPr lang="en-US" b="1" dirty="0"/>
              <a:t>HTML</a:t>
            </a:r>
            <a:r>
              <a:rPr lang="en-US" dirty="0"/>
              <a:t> stands for </a:t>
            </a:r>
            <a:r>
              <a:rPr lang="en-US" b="1" dirty="0"/>
              <a:t>Hyper Text Markup Language.</a:t>
            </a:r>
            <a:r>
              <a:rPr lang="en-US" dirty="0"/>
              <a:t> It is a formatting language used to define the appearance and contents of a web page. It allows us to organize text, graphics, audio, and video on a web page.</a:t>
            </a:r>
          </a:p>
          <a:p>
            <a:r>
              <a:rPr lang="en-US" b="1" dirty="0"/>
              <a:t>Key Points:</a:t>
            </a:r>
            <a:endParaRPr lang="en-US" dirty="0"/>
          </a:p>
          <a:p>
            <a:pPr lvl="0"/>
            <a:r>
              <a:rPr lang="en-US" dirty="0"/>
              <a:t>The word Hypertext refers to the text which acts as a link.</a:t>
            </a:r>
          </a:p>
          <a:p>
            <a:pPr lvl="0"/>
            <a:r>
              <a:rPr lang="en-US" dirty="0"/>
              <a:t>The word markup refers to the symbols that are used to define structure of the text. The markup symbols tells the browser how to display the text and are often called tags.</a:t>
            </a:r>
          </a:p>
          <a:p>
            <a:pPr lvl="0"/>
            <a:r>
              <a:rPr lang="en-US" dirty="0"/>
              <a:t>The word Language refers to the syntax that is similar to any other language.</a:t>
            </a:r>
          </a:p>
          <a:p>
            <a:r>
              <a:rPr lang="en-US" dirty="0"/>
              <a:t>HTML was created by </a:t>
            </a:r>
            <a:r>
              <a:rPr lang="en-US" b="1" dirty="0"/>
              <a:t>Tim Berners-Lee</a:t>
            </a:r>
            <a:r>
              <a:rPr lang="en-US" dirty="0"/>
              <a:t> at </a:t>
            </a:r>
            <a:r>
              <a:rPr lang="en-US" b="1" dirty="0"/>
              <a:t>CERN</a:t>
            </a:r>
            <a:endParaRPr lang="ar-SA" dirty="0"/>
          </a:p>
        </p:txBody>
      </p:sp>
      <p:sp>
        <p:nvSpPr>
          <p:cNvPr id="5" name="Footer Placeholder 4"/>
          <p:cNvSpPr>
            <a:spLocks noGrp="1"/>
          </p:cNvSpPr>
          <p:nvPr>
            <p:ph type="ftr" sz="quarter" idx="11"/>
          </p:nvPr>
        </p:nvSpPr>
        <p:spPr/>
        <p:txBody>
          <a:bodyPr/>
          <a:lstStyle/>
          <a:p>
            <a:r>
              <a:rPr lang="en-US"/>
              <a:t>Internet Technologies - Chapter 3</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2</a:t>
            </a:fld>
            <a:endParaRPr lang="ar-SA"/>
          </a:p>
        </p:txBody>
      </p:sp>
    </p:spTree>
    <p:extLst>
      <p:ext uri="{BB962C8B-B14F-4D97-AF65-F5344CB8AC3E}">
        <p14:creationId xmlns:p14="http://schemas.microsoft.com/office/powerpoint/2010/main" val="505428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47791"/>
          </a:xfrm>
        </p:spPr>
        <p:txBody>
          <a:bodyPr/>
          <a:lstStyle/>
          <a:p>
            <a:r>
              <a:rPr lang="en-US" b="1" dirty="0"/>
              <a:t>HTML Tag:</a:t>
            </a:r>
            <a:endParaRPr lang="ar-SA" b="1" dirty="0"/>
          </a:p>
        </p:txBody>
      </p:sp>
      <p:sp>
        <p:nvSpPr>
          <p:cNvPr id="8" name="Content Placeholder 7"/>
          <p:cNvSpPr>
            <a:spLocks noGrp="1"/>
          </p:cNvSpPr>
          <p:nvPr>
            <p:ph idx="1"/>
          </p:nvPr>
        </p:nvSpPr>
        <p:spPr>
          <a:xfrm>
            <a:off x="838200" y="1429789"/>
            <a:ext cx="10515600" cy="5063086"/>
          </a:xfrm>
        </p:spPr>
        <p:txBody>
          <a:bodyPr>
            <a:noAutofit/>
          </a:bodyPr>
          <a:lstStyle/>
          <a:p>
            <a:pPr marL="0" indent="0" algn="just">
              <a:buNone/>
            </a:pPr>
            <a:r>
              <a:rPr lang="en-US" sz="1800" b="1" dirty="0"/>
              <a:t>Tag</a:t>
            </a:r>
            <a:r>
              <a:rPr lang="en-US" sz="1800" dirty="0"/>
              <a:t> is a command that tells the web browser how to display the text, audio, graphics or video on a web page.</a:t>
            </a:r>
          </a:p>
          <a:p>
            <a:pPr marL="0" indent="0" algn="just">
              <a:buNone/>
            </a:pPr>
            <a:r>
              <a:rPr lang="en-US" sz="1800" b="1" dirty="0"/>
              <a:t>Key Points:</a:t>
            </a:r>
            <a:endParaRPr lang="en-US" sz="1800" dirty="0"/>
          </a:p>
          <a:p>
            <a:pPr lvl="0" algn="just"/>
            <a:r>
              <a:rPr lang="en-US" sz="1800" dirty="0"/>
              <a:t>Tags are indicated with pair of angle brackets.</a:t>
            </a:r>
          </a:p>
          <a:p>
            <a:pPr lvl="0" algn="just"/>
            <a:r>
              <a:rPr lang="en-US" sz="1800" dirty="0"/>
              <a:t>They start with a less than (&lt;) character and end with a greater than (&gt;) character.</a:t>
            </a:r>
          </a:p>
          <a:p>
            <a:pPr lvl="0" algn="just"/>
            <a:r>
              <a:rPr lang="en-US" sz="1800" dirty="0"/>
              <a:t>The tag name is specified between the angle brackets.</a:t>
            </a:r>
          </a:p>
          <a:p>
            <a:pPr lvl="0" algn="just"/>
            <a:r>
              <a:rPr lang="en-US" sz="1800" dirty="0"/>
              <a:t>Most of the tags usually occur in pair: the start tag and the closing tag.</a:t>
            </a:r>
          </a:p>
          <a:p>
            <a:pPr lvl="0" algn="just"/>
            <a:r>
              <a:rPr lang="en-US" sz="1800" dirty="0"/>
              <a:t>The start tag is simply the tag name is enclosed in angle bracket whereas the closing tag is specified including a forward slash (/).</a:t>
            </a:r>
          </a:p>
          <a:p>
            <a:pPr lvl="0" algn="just"/>
            <a:r>
              <a:rPr lang="en-US" sz="1800" dirty="0"/>
              <a:t>Some tags are the empty i.e. they don’t have the closing tag.</a:t>
            </a:r>
          </a:p>
          <a:p>
            <a:pPr lvl="0" algn="just"/>
            <a:r>
              <a:rPr lang="en-US" sz="1800" dirty="0"/>
              <a:t>Tags are not case sensitive.</a:t>
            </a:r>
          </a:p>
          <a:p>
            <a:pPr lvl="0" algn="just"/>
            <a:r>
              <a:rPr lang="en-US" sz="1800" dirty="0"/>
              <a:t>The starting and closing tag name must be the same. For example &lt;b&gt; hello &lt;/</a:t>
            </a:r>
            <a:r>
              <a:rPr lang="en-US" sz="1800" dirty="0" err="1"/>
              <a:t>i</a:t>
            </a:r>
            <a:r>
              <a:rPr lang="en-US" sz="1800" dirty="0"/>
              <a:t>&gt; is invalid as both are different.</a:t>
            </a:r>
          </a:p>
          <a:p>
            <a:pPr algn="just"/>
            <a:r>
              <a:rPr lang="en-US" sz="1800" dirty="0"/>
              <a:t>If you don’t specify the angle brackets (&lt;&gt;) for a tag, the browser will treat the tag name as a simple text.</a:t>
            </a:r>
            <a:endParaRPr lang="ar-SA" sz="1400" dirty="0"/>
          </a:p>
        </p:txBody>
      </p:sp>
      <p:sp>
        <p:nvSpPr>
          <p:cNvPr id="5" name="Footer Placeholder 4"/>
          <p:cNvSpPr>
            <a:spLocks noGrp="1"/>
          </p:cNvSpPr>
          <p:nvPr>
            <p:ph type="ftr" sz="quarter" idx="11"/>
          </p:nvPr>
        </p:nvSpPr>
        <p:spPr/>
        <p:txBody>
          <a:bodyPr/>
          <a:lstStyle/>
          <a:p>
            <a:r>
              <a:rPr lang="en-US"/>
              <a:t>Internet Technologies - Chapter 3</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3</a:t>
            </a:fld>
            <a:endParaRPr lang="ar-SA"/>
          </a:p>
        </p:txBody>
      </p:sp>
    </p:spTree>
    <p:extLst>
      <p:ext uri="{BB962C8B-B14F-4D97-AF65-F5344CB8AC3E}">
        <p14:creationId xmlns:p14="http://schemas.microsoft.com/office/powerpoint/2010/main" val="4246051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56351"/>
          </a:xfrm>
        </p:spPr>
        <p:txBody>
          <a:bodyPr/>
          <a:lstStyle/>
          <a:p>
            <a:r>
              <a:rPr lang="en-US" dirty="0"/>
              <a:t>Basic tags:</a:t>
            </a:r>
            <a:endParaRPr lang="ar-SA" dirty="0"/>
          </a:p>
        </p:txBody>
      </p:sp>
      <p:sp>
        <p:nvSpPr>
          <p:cNvPr id="3" name="Content Placeholder 2"/>
          <p:cNvSpPr>
            <a:spLocks noGrp="1"/>
          </p:cNvSpPr>
          <p:nvPr>
            <p:ph idx="1"/>
          </p:nvPr>
        </p:nvSpPr>
        <p:spPr>
          <a:xfrm>
            <a:off x="838200" y="1238596"/>
            <a:ext cx="10515600" cy="5145579"/>
          </a:xfrm>
        </p:spPr>
        <p:txBody>
          <a:bodyPr>
            <a:normAutofit fontScale="92500" lnSpcReduction="10000"/>
          </a:bodyPr>
          <a:lstStyle/>
          <a:p>
            <a:r>
              <a:rPr lang="en-US" dirty="0"/>
              <a:t>The following table shows the Basic HTML tags that define the basic web page.</a:t>
            </a:r>
          </a:p>
          <a:p>
            <a:endParaRPr lang="en-US" dirty="0"/>
          </a:p>
          <a:p>
            <a:endParaRPr lang="en-US" dirty="0"/>
          </a:p>
          <a:p>
            <a:endParaRPr lang="en-US" dirty="0"/>
          </a:p>
          <a:p>
            <a:endParaRPr lang="en-US" dirty="0"/>
          </a:p>
          <a:p>
            <a:pPr marL="0" indent="0">
              <a:buNone/>
            </a:pPr>
            <a:endParaRPr lang="en-US" dirty="0"/>
          </a:p>
          <a:p>
            <a:pPr marL="0" indent="0">
              <a:buNone/>
            </a:pPr>
            <a:r>
              <a:rPr lang="en-US" dirty="0"/>
              <a:t>The following code shows how to use basic tags.</a:t>
            </a:r>
          </a:p>
          <a:p>
            <a:pPr marL="0" indent="0">
              <a:buNone/>
            </a:pPr>
            <a:r>
              <a:rPr lang="en-US" dirty="0"/>
              <a:t>&lt;html&gt;</a:t>
            </a:r>
          </a:p>
          <a:p>
            <a:pPr marL="0" indent="0">
              <a:buNone/>
            </a:pPr>
            <a:r>
              <a:rPr lang="en-US" dirty="0"/>
              <a:t>&lt;head&gt; heading goes here &lt;/head&gt;</a:t>
            </a:r>
          </a:p>
          <a:p>
            <a:pPr marL="0" indent="0">
              <a:buNone/>
            </a:pPr>
            <a:r>
              <a:rPr lang="en-US" dirty="0"/>
              <a:t>&lt;title&gt; title goes here&lt;/title&gt;</a:t>
            </a:r>
          </a:p>
          <a:p>
            <a:pPr marL="0" indent="0">
              <a:buNone/>
            </a:pPr>
            <a:r>
              <a:rPr lang="en-US" dirty="0"/>
              <a:t>&lt;body&gt; body goes here&lt;/body&gt;</a:t>
            </a:r>
          </a:p>
          <a:p>
            <a:pPr marL="0" indent="0">
              <a:buNone/>
            </a:pPr>
            <a:r>
              <a:rPr lang="en-US" dirty="0"/>
              <a:t>&lt;/html&gt;</a:t>
            </a:r>
          </a:p>
          <a:p>
            <a:endParaRPr lang="en-US" dirty="0"/>
          </a:p>
          <a:p>
            <a:pPr marL="0" indent="0">
              <a:buNone/>
            </a:pPr>
            <a:endParaRPr lang="en-US" dirty="0"/>
          </a:p>
          <a:p>
            <a:endParaRPr lang="ar-SA" dirty="0"/>
          </a:p>
        </p:txBody>
      </p:sp>
      <p:sp>
        <p:nvSpPr>
          <p:cNvPr id="6" name="Footer Placeholder 5"/>
          <p:cNvSpPr>
            <a:spLocks noGrp="1"/>
          </p:cNvSpPr>
          <p:nvPr>
            <p:ph type="ftr" sz="quarter" idx="11"/>
          </p:nvPr>
        </p:nvSpPr>
        <p:spPr/>
        <p:txBody>
          <a:bodyPr/>
          <a:lstStyle/>
          <a:p>
            <a:r>
              <a:rPr lang="en-US"/>
              <a:t>Internet Technologies - Chapter 3</a:t>
            </a:r>
            <a:endParaRPr lang="ar-SA"/>
          </a:p>
        </p:txBody>
      </p:sp>
      <p:sp>
        <p:nvSpPr>
          <p:cNvPr id="5" name="Slide Number Placeholder 4"/>
          <p:cNvSpPr>
            <a:spLocks noGrp="1"/>
          </p:cNvSpPr>
          <p:nvPr>
            <p:ph type="sldNum" sz="quarter" idx="12"/>
          </p:nvPr>
        </p:nvSpPr>
        <p:spPr/>
        <p:txBody>
          <a:bodyPr/>
          <a:lstStyle/>
          <a:p>
            <a:fld id="{0E432819-B1C9-4D2F-8F6B-911D67ACBAA2}" type="slidenum">
              <a:rPr lang="ar-SA" smtClean="0"/>
              <a:pPr/>
              <a:t>4</a:t>
            </a:fld>
            <a:endParaRPr lang="ar-SA"/>
          </a:p>
        </p:txBody>
      </p:sp>
      <p:graphicFrame>
        <p:nvGraphicFramePr>
          <p:cNvPr id="7" name="Table 6"/>
          <p:cNvGraphicFramePr>
            <a:graphicFrameLocks noGrp="1"/>
          </p:cNvGraphicFramePr>
          <p:nvPr>
            <p:extLst>
              <p:ext uri="{D42A27DB-BD31-4B8C-83A1-F6EECF244321}">
                <p14:modId xmlns:p14="http://schemas.microsoft.com/office/powerpoint/2010/main" val="1354987424"/>
              </p:ext>
            </p:extLst>
          </p:nvPr>
        </p:nvGraphicFramePr>
        <p:xfrm>
          <a:off x="2775786" y="1803863"/>
          <a:ext cx="6168708" cy="1895300"/>
        </p:xfrm>
        <a:graphic>
          <a:graphicData uri="http://schemas.openxmlformats.org/drawingml/2006/table">
            <a:tbl>
              <a:tblPr firstRow="1" firstCol="1" bandRow="1">
                <a:tableStyleId>{5C22544A-7EE6-4342-B048-85BDC9FD1C3A}</a:tableStyleId>
              </a:tblPr>
              <a:tblGrid>
                <a:gridCol w="1693455">
                  <a:extLst>
                    <a:ext uri="{9D8B030D-6E8A-4147-A177-3AD203B41FA5}">
                      <a16:colId xmlns:a16="http://schemas.microsoft.com/office/drawing/2014/main" val="1536113518"/>
                    </a:ext>
                  </a:extLst>
                </a:gridCol>
                <a:gridCol w="4475253">
                  <a:extLst>
                    <a:ext uri="{9D8B030D-6E8A-4147-A177-3AD203B41FA5}">
                      <a16:colId xmlns:a16="http://schemas.microsoft.com/office/drawing/2014/main" val="201560832"/>
                    </a:ext>
                  </a:extLst>
                </a:gridCol>
              </a:tblGrid>
              <a:tr h="379060">
                <a:tc>
                  <a:txBody>
                    <a:bodyPr/>
                    <a:lstStyle/>
                    <a:p>
                      <a:pPr marL="0" marR="0">
                        <a:lnSpc>
                          <a:spcPct val="107000"/>
                        </a:lnSpc>
                        <a:spcBef>
                          <a:spcPts val="600"/>
                        </a:spcBef>
                        <a:spcAft>
                          <a:spcPts val="600"/>
                        </a:spcAft>
                      </a:pPr>
                      <a:r>
                        <a:rPr lang="en-US" sz="1200">
                          <a:effectLst/>
                        </a:rPr>
                        <a:t>Tag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dirty="0">
                          <a:effectLst/>
                        </a:rPr>
                        <a:t>Description</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367072753"/>
                  </a:ext>
                </a:extLst>
              </a:tr>
              <a:tr h="379060">
                <a:tc>
                  <a:txBody>
                    <a:bodyPr/>
                    <a:lstStyle/>
                    <a:p>
                      <a:pPr marL="0" marR="0">
                        <a:lnSpc>
                          <a:spcPct val="107000"/>
                        </a:lnSpc>
                        <a:spcBef>
                          <a:spcPts val="600"/>
                        </a:spcBef>
                        <a:spcAft>
                          <a:spcPts val="600"/>
                        </a:spcAft>
                      </a:pPr>
                      <a:r>
                        <a:rPr lang="en-US" sz="1200">
                          <a:effectLst/>
                        </a:rPr>
                        <a:t>&lt;html&gt; &lt;/html&gt;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dirty="0">
                          <a:effectLst/>
                        </a:rPr>
                        <a:t>Specifies the document as a web page.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10691972"/>
                  </a:ext>
                </a:extLst>
              </a:tr>
              <a:tr h="379060">
                <a:tc>
                  <a:txBody>
                    <a:bodyPr/>
                    <a:lstStyle/>
                    <a:p>
                      <a:pPr marL="0" marR="0">
                        <a:lnSpc>
                          <a:spcPct val="107000"/>
                        </a:lnSpc>
                        <a:spcBef>
                          <a:spcPts val="600"/>
                        </a:spcBef>
                        <a:spcAft>
                          <a:spcPts val="600"/>
                        </a:spcAft>
                      </a:pPr>
                      <a:r>
                        <a:rPr lang="en-US" sz="1200">
                          <a:effectLst/>
                        </a:rPr>
                        <a:t>&lt;head&gt; &lt;/head&gt;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dirty="0">
                          <a:effectLst/>
                        </a:rPr>
                        <a:t>Specifies the descriptive information about the web documents.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561956072"/>
                  </a:ext>
                </a:extLst>
              </a:tr>
              <a:tr h="379060">
                <a:tc>
                  <a:txBody>
                    <a:bodyPr/>
                    <a:lstStyle/>
                    <a:p>
                      <a:pPr marL="0" marR="0">
                        <a:lnSpc>
                          <a:spcPct val="107000"/>
                        </a:lnSpc>
                        <a:spcBef>
                          <a:spcPts val="600"/>
                        </a:spcBef>
                        <a:spcAft>
                          <a:spcPts val="600"/>
                        </a:spcAft>
                      </a:pPr>
                      <a:r>
                        <a:rPr lang="en-US" sz="1200">
                          <a:effectLst/>
                        </a:rPr>
                        <a:t>&lt;title&gt; &lt;/title&gt;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Specifies the title of the web page.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856603348"/>
                  </a:ext>
                </a:extLst>
              </a:tr>
              <a:tr h="379060">
                <a:tc>
                  <a:txBody>
                    <a:bodyPr/>
                    <a:lstStyle/>
                    <a:p>
                      <a:pPr marL="0" marR="0">
                        <a:lnSpc>
                          <a:spcPct val="107000"/>
                        </a:lnSpc>
                        <a:spcBef>
                          <a:spcPts val="600"/>
                        </a:spcBef>
                        <a:spcAft>
                          <a:spcPts val="600"/>
                        </a:spcAft>
                      </a:pPr>
                      <a:r>
                        <a:rPr lang="en-US" sz="1200">
                          <a:effectLst/>
                        </a:rPr>
                        <a:t>&lt;body&gt; &lt;/body&gt;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dirty="0">
                          <a:effectLst/>
                        </a:rPr>
                        <a:t>Specifies the body of a web document.</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398789673"/>
                  </a:ext>
                </a:extLst>
              </a:tr>
            </a:tbl>
          </a:graphicData>
        </a:graphic>
      </p:graphicFrame>
    </p:spTree>
    <p:extLst>
      <p:ext uri="{BB962C8B-B14F-4D97-AF65-F5344CB8AC3E}">
        <p14:creationId xmlns:p14="http://schemas.microsoft.com/office/powerpoint/2010/main" val="3837220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Formatting Tags:</a:t>
            </a:r>
            <a:endParaRPr lang="ar-SA" dirty="0"/>
          </a:p>
        </p:txBody>
      </p:sp>
      <p:sp>
        <p:nvSpPr>
          <p:cNvPr id="3" name="Content Placeholder 2"/>
          <p:cNvSpPr>
            <a:spLocks noGrp="1"/>
          </p:cNvSpPr>
          <p:nvPr>
            <p:ph idx="1"/>
          </p:nvPr>
        </p:nvSpPr>
        <p:spPr>
          <a:xfrm>
            <a:off x="838200" y="1463040"/>
            <a:ext cx="10515600" cy="4713923"/>
          </a:xfrm>
        </p:spPr>
        <p:txBody>
          <a:bodyPr/>
          <a:lstStyle/>
          <a:p>
            <a:r>
              <a:rPr lang="en-US" dirty="0"/>
              <a:t>The following table shows the HTML tags used for formatting the text:</a:t>
            </a:r>
          </a:p>
          <a:p>
            <a:endParaRPr lang="ar-SA" dirty="0"/>
          </a:p>
        </p:txBody>
      </p:sp>
      <p:sp>
        <p:nvSpPr>
          <p:cNvPr id="6" name="Footer Placeholder 5"/>
          <p:cNvSpPr>
            <a:spLocks noGrp="1"/>
          </p:cNvSpPr>
          <p:nvPr>
            <p:ph type="ftr" sz="quarter" idx="11"/>
          </p:nvPr>
        </p:nvSpPr>
        <p:spPr/>
        <p:txBody>
          <a:bodyPr/>
          <a:lstStyle/>
          <a:p>
            <a:r>
              <a:rPr lang="en-US"/>
              <a:t>Internet Technologies - Chapter 3</a:t>
            </a:r>
            <a:endParaRPr lang="ar-SA"/>
          </a:p>
        </p:txBody>
      </p:sp>
      <p:sp>
        <p:nvSpPr>
          <p:cNvPr id="5" name="Slide Number Placeholder 4"/>
          <p:cNvSpPr>
            <a:spLocks noGrp="1"/>
          </p:cNvSpPr>
          <p:nvPr>
            <p:ph type="sldNum" sz="quarter" idx="12"/>
          </p:nvPr>
        </p:nvSpPr>
        <p:spPr/>
        <p:txBody>
          <a:bodyPr/>
          <a:lstStyle/>
          <a:p>
            <a:fld id="{0E432819-B1C9-4D2F-8F6B-911D67ACBAA2}" type="slidenum">
              <a:rPr lang="ar-SA" smtClean="0"/>
              <a:pPr/>
              <a:t>5</a:t>
            </a:fld>
            <a:endParaRPr lang="ar-SA"/>
          </a:p>
        </p:txBody>
      </p:sp>
      <p:graphicFrame>
        <p:nvGraphicFramePr>
          <p:cNvPr id="4" name="Table 3"/>
          <p:cNvGraphicFramePr>
            <a:graphicFrameLocks noGrp="1"/>
          </p:cNvGraphicFramePr>
          <p:nvPr>
            <p:extLst>
              <p:ext uri="{D42A27DB-BD31-4B8C-83A1-F6EECF244321}">
                <p14:modId xmlns:p14="http://schemas.microsoft.com/office/powerpoint/2010/main" val="2091881880"/>
              </p:ext>
            </p:extLst>
          </p:nvPr>
        </p:nvGraphicFramePr>
        <p:xfrm>
          <a:off x="2601884" y="2061558"/>
          <a:ext cx="7115693" cy="4297677"/>
        </p:xfrm>
        <a:graphic>
          <a:graphicData uri="http://schemas.openxmlformats.org/drawingml/2006/table">
            <a:tbl>
              <a:tblPr firstRow="1" firstCol="1" bandRow="1">
                <a:tableStyleId>{5C22544A-7EE6-4342-B048-85BDC9FD1C3A}</a:tableStyleId>
              </a:tblPr>
              <a:tblGrid>
                <a:gridCol w="1754575">
                  <a:extLst>
                    <a:ext uri="{9D8B030D-6E8A-4147-A177-3AD203B41FA5}">
                      <a16:colId xmlns:a16="http://schemas.microsoft.com/office/drawing/2014/main" val="2182502068"/>
                    </a:ext>
                  </a:extLst>
                </a:gridCol>
                <a:gridCol w="5361118">
                  <a:extLst>
                    <a:ext uri="{9D8B030D-6E8A-4147-A177-3AD203B41FA5}">
                      <a16:colId xmlns:a16="http://schemas.microsoft.com/office/drawing/2014/main" val="2668468942"/>
                    </a:ext>
                  </a:extLst>
                </a:gridCol>
              </a:tblGrid>
              <a:tr h="267707">
                <a:tc>
                  <a:txBody>
                    <a:bodyPr/>
                    <a:lstStyle/>
                    <a:p>
                      <a:pPr marL="0" marR="0">
                        <a:lnSpc>
                          <a:spcPct val="107000"/>
                        </a:lnSpc>
                        <a:spcBef>
                          <a:spcPts val="600"/>
                        </a:spcBef>
                        <a:spcAft>
                          <a:spcPts val="600"/>
                        </a:spcAft>
                      </a:pPr>
                      <a:r>
                        <a:rPr lang="en-US" sz="1100">
                          <a:effectLst/>
                        </a:rPr>
                        <a:t>Tag</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44366" marR="44366" marT="44366" marB="44366" anchor="ctr"/>
                </a:tc>
                <a:tc>
                  <a:txBody>
                    <a:bodyPr/>
                    <a:lstStyle/>
                    <a:p>
                      <a:pPr marL="0" marR="0">
                        <a:lnSpc>
                          <a:spcPct val="107000"/>
                        </a:lnSpc>
                        <a:spcBef>
                          <a:spcPts val="600"/>
                        </a:spcBef>
                        <a:spcAft>
                          <a:spcPts val="600"/>
                        </a:spcAft>
                      </a:pPr>
                      <a:r>
                        <a:rPr lang="en-US" sz="1100">
                          <a:effectLst/>
                        </a:rPr>
                        <a:t>Description</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44366" marR="44366" marT="44366" marB="44366" anchor="ctr"/>
                </a:tc>
                <a:extLst>
                  <a:ext uri="{0D108BD9-81ED-4DB2-BD59-A6C34878D82A}">
                    <a16:rowId xmlns:a16="http://schemas.microsoft.com/office/drawing/2014/main" val="1996058340"/>
                  </a:ext>
                </a:extLst>
              </a:tr>
              <a:tr h="447774">
                <a:tc>
                  <a:txBody>
                    <a:bodyPr/>
                    <a:lstStyle/>
                    <a:p>
                      <a:pPr marL="0" marR="0">
                        <a:lnSpc>
                          <a:spcPct val="107000"/>
                        </a:lnSpc>
                        <a:spcBef>
                          <a:spcPts val="600"/>
                        </a:spcBef>
                        <a:spcAft>
                          <a:spcPts val="600"/>
                        </a:spcAft>
                      </a:pPr>
                      <a:r>
                        <a:rPr lang="en-US" sz="1100">
                          <a:effectLst/>
                        </a:rPr>
                        <a:t>&lt;b&gt; &lt;/b&gt;</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44366" marR="44366" marT="44366" marB="44366" anchor="ctr"/>
                </a:tc>
                <a:tc>
                  <a:txBody>
                    <a:bodyPr/>
                    <a:lstStyle/>
                    <a:p>
                      <a:pPr marL="0" marR="0">
                        <a:lnSpc>
                          <a:spcPct val="107000"/>
                        </a:lnSpc>
                        <a:spcBef>
                          <a:spcPts val="600"/>
                        </a:spcBef>
                        <a:spcAft>
                          <a:spcPts val="600"/>
                        </a:spcAft>
                      </a:pPr>
                      <a:r>
                        <a:rPr lang="en-US" sz="1100">
                          <a:effectLst/>
                        </a:rPr>
                        <a:t>Specifies the text as bold. Eg. this is bold text</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44366" marR="44366" marT="44366" marB="44366" anchor="ctr"/>
                </a:tc>
                <a:extLst>
                  <a:ext uri="{0D108BD9-81ED-4DB2-BD59-A6C34878D82A}">
                    <a16:rowId xmlns:a16="http://schemas.microsoft.com/office/drawing/2014/main" val="407181035"/>
                  </a:ext>
                </a:extLst>
              </a:tr>
              <a:tr h="627843">
                <a:tc>
                  <a:txBody>
                    <a:bodyPr/>
                    <a:lstStyle/>
                    <a:p>
                      <a:pPr marL="0" marR="0">
                        <a:lnSpc>
                          <a:spcPct val="107000"/>
                        </a:lnSpc>
                        <a:spcBef>
                          <a:spcPts val="600"/>
                        </a:spcBef>
                        <a:spcAft>
                          <a:spcPts val="600"/>
                        </a:spcAft>
                      </a:pPr>
                      <a:r>
                        <a:rPr lang="en-US" sz="1100">
                          <a:effectLst/>
                        </a:rPr>
                        <a:t>&lt;em&gt; &lt;/em&gt;</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44366" marR="44366" marT="44366" marB="44366" anchor="ctr"/>
                </a:tc>
                <a:tc>
                  <a:txBody>
                    <a:bodyPr/>
                    <a:lstStyle/>
                    <a:p>
                      <a:pPr marL="0" marR="0">
                        <a:lnSpc>
                          <a:spcPct val="107000"/>
                        </a:lnSpc>
                        <a:spcBef>
                          <a:spcPts val="600"/>
                        </a:spcBef>
                        <a:spcAft>
                          <a:spcPts val="600"/>
                        </a:spcAft>
                      </a:pPr>
                      <a:r>
                        <a:rPr lang="en-US" sz="1100">
                          <a:effectLst/>
                        </a:rPr>
                        <a:t>It is a phrase text. It specifies the emphasized text. Eg. Emphasized text</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44366" marR="44366" marT="44366" marB="44366" anchor="ctr"/>
                </a:tc>
                <a:extLst>
                  <a:ext uri="{0D108BD9-81ED-4DB2-BD59-A6C34878D82A}">
                    <a16:rowId xmlns:a16="http://schemas.microsoft.com/office/drawing/2014/main" val="2993287779"/>
                  </a:ext>
                </a:extLst>
              </a:tr>
              <a:tr h="627843">
                <a:tc>
                  <a:txBody>
                    <a:bodyPr/>
                    <a:lstStyle/>
                    <a:p>
                      <a:pPr marL="0" marR="0">
                        <a:lnSpc>
                          <a:spcPct val="107000"/>
                        </a:lnSpc>
                        <a:spcBef>
                          <a:spcPts val="600"/>
                        </a:spcBef>
                        <a:spcAft>
                          <a:spcPts val="600"/>
                        </a:spcAft>
                      </a:pPr>
                      <a:r>
                        <a:rPr lang="en-US" sz="1100">
                          <a:effectLst/>
                        </a:rPr>
                        <a:t>&lt;strong&gt; &lt;/strong&gt;</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44366" marR="44366" marT="44366" marB="44366" anchor="ctr"/>
                </a:tc>
                <a:tc>
                  <a:txBody>
                    <a:bodyPr/>
                    <a:lstStyle/>
                    <a:p>
                      <a:pPr marL="0" marR="0">
                        <a:lnSpc>
                          <a:spcPct val="107000"/>
                        </a:lnSpc>
                        <a:spcBef>
                          <a:spcPts val="600"/>
                        </a:spcBef>
                        <a:spcAft>
                          <a:spcPts val="600"/>
                        </a:spcAft>
                      </a:pPr>
                      <a:r>
                        <a:rPr lang="en-US" sz="1100">
                          <a:effectLst/>
                        </a:rPr>
                        <a:t>It is a phrase tag. It specifies an important text. Eg. this is strong text</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44366" marR="44366" marT="44366" marB="44366" anchor="ctr"/>
                </a:tc>
                <a:extLst>
                  <a:ext uri="{0D108BD9-81ED-4DB2-BD59-A6C34878D82A}">
                    <a16:rowId xmlns:a16="http://schemas.microsoft.com/office/drawing/2014/main" val="3576727618"/>
                  </a:ext>
                </a:extLst>
              </a:tr>
              <a:tr h="447774">
                <a:tc>
                  <a:txBody>
                    <a:bodyPr/>
                    <a:lstStyle/>
                    <a:p>
                      <a:pPr marL="0" marR="0">
                        <a:lnSpc>
                          <a:spcPct val="107000"/>
                        </a:lnSpc>
                        <a:spcBef>
                          <a:spcPts val="600"/>
                        </a:spcBef>
                        <a:spcAft>
                          <a:spcPts val="600"/>
                        </a:spcAft>
                      </a:pPr>
                      <a:r>
                        <a:rPr lang="en-US" sz="1100" dirty="0">
                          <a:effectLst/>
                        </a:rPr>
                        <a:t>&lt;</a:t>
                      </a:r>
                      <a:r>
                        <a:rPr lang="en-US" sz="1100" dirty="0" err="1">
                          <a:effectLst/>
                        </a:rPr>
                        <a:t>i</a:t>
                      </a:r>
                      <a:r>
                        <a:rPr lang="en-US" sz="1100" dirty="0">
                          <a:effectLst/>
                        </a:rPr>
                        <a:t>&gt; &lt;/</a:t>
                      </a:r>
                      <a:r>
                        <a:rPr lang="en-US" sz="1100" dirty="0" err="1">
                          <a:effectLst/>
                        </a:rPr>
                        <a:t>i</a:t>
                      </a:r>
                      <a:r>
                        <a:rPr lang="en-US" sz="1100" dirty="0">
                          <a:effectLst/>
                        </a:rPr>
                        <a:t>&gt;</a:t>
                      </a:r>
                      <a:endParaRPr lang="en-US" sz="1000" dirty="0">
                        <a:effectLst/>
                        <a:latin typeface="Calibri" panose="020F0502020204030204" pitchFamily="34" charset="0"/>
                        <a:ea typeface="Calibri" panose="020F0502020204030204" pitchFamily="34" charset="0"/>
                        <a:cs typeface="Arial" panose="020B0604020202020204" pitchFamily="34" charset="0"/>
                      </a:endParaRPr>
                    </a:p>
                  </a:txBody>
                  <a:tcPr marL="44366" marR="44366" marT="44366" marB="44366" anchor="ctr"/>
                </a:tc>
                <a:tc>
                  <a:txBody>
                    <a:bodyPr/>
                    <a:lstStyle/>
                    <a:p>
                      <a:pPr marL="0" marR="0">
                        <a:lnSpc>
                          <a:spcPct val="107000"/>
                        </a:lnSpc>
                        <a:spcBef>
                          <a:spcPts val="600"/>
                        </a:spcBef>
                        <a:spcAft>
                          <a:spcPts val="600"/>
                        </a:spcAft>
                      </a:pPr>
                      <a:r>
                        <a:rPr lang="en-US" sz="1100">
                          <a:effectLst/>
                        </a:rPr>
                        <a:t>The content of italic tag is displayed in italic. Eg. Italic text</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44366" marR="44366" marT="44366" marB="44366" anchor="ctr"/>
                </a:tc>
                <a:extLst>
                  <a:ext uri="{0D108BD9-81ED-4DB2-BD59-A6C34878D82A}">
                    <a16:rowId xmlns:a16="http://schemas.microsoft.com/office/drawing/2014/main" val="2105163456"/>
                  </a:ext>
                </a:extLst>
              </a:tr>
              <a:tr h="267707">
                <a:tc>
                  <a:txBody>
                    <a:bodyPr/>
                    <a:lstStyle/>
                    <a:p>
                      <a:pPr marL="0" marR="0">
                        <a:lnSpc>
                          <a:spcPct val="107000"/>
                        </a:lnSpc>
                        <a:spcBef>
                          <a:spcPts val="600"/>
                        </a:spcBef>
                        <a:spcAft>
                          <a:spcPts val="600"/>
                        </a:spcAft>
                      </a:pPr>
                      <a:r>
                        <a:rPr lang="en-US" sz="1100">
                          <a:effectLst/>
                        </a:rPr>
                        <a:t>&lt;sub&gt; &lt;/sub&gt;</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44366" marR="44366" marT="44366" marB="44366" anchor="ctr"/>
                </a:tc>
                <a:tc>
                  <a:txBody>
                    <a:bodyPr/>
                    <a:lstStyle/>
                    <a:p>
                      <a:pPr marL="0" marR="0">
                        <a:lnSpc>
                          <a:spcPct val="107000"/>
                        </a:lnSpc>
                        <a:spcBef>
                          <a:spcPts val="600"/>
                        </a:spcBef>
                        <a:spcAft>
                          <a:spcPts val="600"/>
                        </a:spcAft>
                      </a:pPr>
                      <a:r>
                        <a:rPr lang="en-US" sz="1100">
                          <a:effectLst/>
                        </a:rPr>
                        <a:t>Specifies the subscripted text. Eg. X</a:t>
                      </a:r>
                      <a:r>
                        <a:rPr lang="en-US" sz="1100" baseline="-25000">
                          <a:effectLst/>
                        </a:rPr>
                        <a:t>1</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44366" marR="44366" marT="44366" marB="44366" anchor="ctr"/>
                </a:tc>
                <a:extLst>
                  <a:ext uri="{0D108BD9-81ED-4DB2-BD59-A6C34878D82A}">
                    <a16:rowId xmlns:a16="http://schemas.microsoft.com/office/drawing/2014/main" val="2078217327"/>
                  </a:ext>
                </a:extLst>
              </a:tr>
              <a:tr h="267707">
                <a:tc>
                  <a:txBody>
                    <a:bodyPr/>
                    <a:lstStyle/>
                    <a:p>
                      <a:pPr marL="0" marR="0">
                        <a:lnSpc>
                          <a:spcPct val="107000"/>
                        </a:lnSpc>
                        <a:spcBef>
                          <a:spcPts val="600"/>
                        </a:spcBef>
                        <a:spcAft>
                          <a:spcPts val="600"/>
                        </a:spcAft>
                      </a:pPr>
                      <a:r>
                        <a:rPr lang="en-US" sz="1100">
                          <a:effectLst/>
                        </a:rPr>
                        <a:t>&lt;sup&gt; &lt;/sup&gt;</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44366" marR="44366" marT="44366" marB="44366" anchor="ctr"/>
                </a:tc>
                <a:tc>
                  <a:txBody>
                    <a:bodyPr/>
                    <a:lstStyle/>
                    <a:p>
                      <a:pPr marL="0" marR="0">
                        <a:lnSpc>
                          <a:spcPct val="107000"/>
                        </a:lnSpc>
                        <a:spcBef>
                          <a:spcPts val="600"/>
                        </a:spcBef>
                        <a:spcAft>
                          <a:spcPts val="600"/>
                        </a:spcAft>
                      </a:pPr>
                      <a:r>
                        <a:rPr lang="en-US" sz="1100">
                          <a:effectLst/>
                        </a:rPr>
                        <a:t>Defines the superscripted text. Eg. X</a:t>
                      </a:r>
                      <a:r>
                        <a:rPr lang="en-US" sz="1100" baseline="30000">
                          <a:effectLst/>
                        </a:rPr>
                        <a:t>2</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44366" marR="44366" marT="44366" marB="44366" anchor="ctr"/>
                </a:tc>
                <a:extLst>
                  <a:ext uri="{0D108BD9-81ED-4DB2-BD59-A6C34878D82A}">
                    <a16:rowId xmlns:a16="http://schemas.microsoft.com/office/drawing/2014/main" val="546640859"/>
                  </a:ext>
                </a:extLst>
              </a:tr>
              <a:tr h="447774">
                <a:tc>
                  <a:txBody>
                    <a:bodyPr/>
                    <a:lstStyle/>
                    <a:p>
                      <a:pPr marL="0" marR="0">
                        <a:lnSpc>
                          <a:spcPct val="107000"/>
                        </a:lnSpc>
                        <a:spcBef>
                          <a:spcPts val="600"/>
                        </a:spcBef>
                        <a:spcAft>
                          <a:spcPts val="600"/>
                        </a:spcAft>
                      </a:pPr>
                      <a:r>
                        <a:rPr lang="en-US" sz="1100">
                          <a:effectLst/>
                        </a:rPr>
                        <a:t>&lt;ins&gt; &lt;/ins&gt;</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44366" marR="44366" marT="44366" marB="44366" anchor="ctr"/>
                </a:tc>
                <a:tc>
                  <a:txBody>
                    <a:bodyPr/>
                    <a:lstStyle/>
                    <a:p>
                      <a:pPr marL="0" marR="0">
                        <a:lnSpc>
                          <a:spcPct val="107000"/>
                        </a:lnSpc>
                        <a:spcBef>
                          <a:spcPts val="600"/>
                        </a:spcBef>
                        <a:spcAft>
                          <a:spcPts val="600"/>
                        </a:spcAft>
                      </a:pPr>
                      <a:r>
                        <a:rPr lang="en-US" sz="1100">
                          <a:effectLst/>
                        </a:rPr>
                        <a:t>Specifies the inserted text. Eg. The price of pen is now </a:t>
                      </a:r>
                      <a:r>
                        <a:rPr lang="en-US" sz="1100" strike="sngStrike">
                          <a:effectLst/>
                        </a:rPr>
                        <a:t>20</a:t>
                      </a:r>
                      <a:r>
                        <a:rPr lang="en-US" sz="1100" u="sng">
                          <a:effectLst/>
                        </a:rPr>
                        <a:t>15</a:t>
                      </a:r>
                      <a:r>
                        <a:rPr lang="en-US" sz="1100">
                          <a:effectLst/>
                        </a:rPr>
                        <a:t>.</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44366" marR="44366" marT="44366" marB="44366" anchor="ctr"/>
                </a:tc>
                <a:extLst>
                  <a:ext uri="{0D108BD9-81ED-4DB2-BD59-A6C34878D82A}">
                    <a16:rowId xmlns:a16="http://schemas.microsoft.com/office/drawing/2014/main" val="4198739405"/>
                  </a:ext>
                </a:extLst>
              </a:tr>
              <a:tr h="447774">
                <a:tc>
                  <a:txBody>
                    <a:bodyPr/>
                    <a:lstStyle/>
                    <a:p>
                      <a:pPr marL="0" marR="0">
                        <a:lnSpc>
                          <a:spcPct val="107000"/>
                        </a:lnSpc>
                        <a:spcBef>
                          <a:spcPts val="600"/>
                        </a:spcBef>
                        <a:spcAft>
                          <a:spcPts val="600"/>
                        </a:spcAft>
                      </a:pPr>
                      <a:r>
                        <a:rPr lang="en-US" sz="1100">
                          <a:effectLst/>
                        </a:rPr>
                        <a:t>&lt;del&gt; &lt;/del&gt;</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44366" marR="44366" marT="44366" marB="44366" anchor="ctr"/>
                </a:tc>
                <a:tc>
                  <a:txBody>
                    <a:bodyPr/>
                    <a:lstStyle/>
                    <a:p>
                      <a:pPr marL="0" marR="0">
                        <a:lnSpc>
                          <a:spcPct val="107000"/>
                        </a:lnSpc>
                        <a:spcBef>
                          <a:spcPts val="600"/>
                        </a:spcBef>
                        <a:spcAft>
                          <a:spcPts val="600"/>
                        </a:spcAft>
                      </a:pPr>
                      <a:r>
                        <a:rPr lang="en-US" sz="1100">
                          <a:effectLst/>
                        </a:rPr>
                        <a:t>Specifies the deleted text. Eg. The price of pen is now </a:t>
                      </a:r>
                      <a:r>
                        <a:rPr lang="en-US" sz="1100" strike="sngStrike">
                          <a:effectLst/>
                        </a:rPr>
                        <a:t>20</a:t>
                      </a:r>
                      <a:r>
                        <a:rPr lang="en-US" sz="1100" u="sng">
                          <a:effectLst/>
                        </a:rPr>
                        <a:t>15</a:t>
                      </a:r>
                      <a:r>
                        <a:rPr lang="en-US" sz="1100">
                          <a:effectLst/>
                        </a:rPr>
                        <a:t>.</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44366" marR="44366" marT="44366" marB="44366" anchor="ctr"/>
                </a:tc>
                <a:extLst>
                  <a:ext uri="{0D108BD9-81ED-4DB2-BD59-A6C34878D82A}">
                    <a16:rowId xmlns:a16="http://schemas.microsoft.com/office/drawing/2014/main" val="785885798"/>
                  </a:ext>
                </a:extLst>
              </a:tr>
              <a:tr h="447774">
                <a:tc>
                  <a:txBody>
                    <a:bodyPr/>
                    <a:lstStyle/>
                    <a:p>
                      <a:pPr marL="0" marR="0">
                        <a:lnSpc>
                          <a:spcPct val="107000"/>
                        </a:lnSpc>
                        <a:spcBef>
                          <a:spcPts val="600"/>
                        </a:spcBef>
                        <a:spcAft>
                          <a:spcPts val="600"/>
                        </a:spcAft>
                      </a:pPr>
                      <a:r>
                        <a:rPr lang="en-US" sz="1100">
                          <a:effectLst/>
                        </a:rPr>
                        <a:t>&lt;mark&gt; &lt;/mark&gt;</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44366" marR="44366" marT="44366" marB="44366" anchor="ctr"/>
                </a:tc>
                <a:tc>
                  <a:txBody>
                    <a:bodyPr/>
                    <a:lstStyle/>
                    <a:p>
                      <a:pPr marL="0" marR="0">
                        <a:lnSpc>
                          <a:spcPct val="107000"/>
                        </a:lnSpc>
                        <a:spcBef>
                          <a:spcPts val="600"/>
                        </a:spcBef>
                        <a:spcAft>
                          <a:spcPts val="600"/>
                        </a:spcAft>
                      </a:pPr>
                      <a:r>
                        <a:rPr lang="en-US" sz="1100" dirty="0">
                          <a:effectLst/>
                        </a:rPr>
                        <a:t>Specifies the marked text. </a:t>
                      </a:r>
                      <a:r>
                        <a:rPr lang="en-US" sz="1100" dirty="0" err="1">
                          <a:effectLst/>
                        </a:rPr>
                        <a:t>Eg</a:t>
                      </a:r>
                      <a:r>
                        <a:rPr lang="en-US" sz="1100" dirty="0">
                          <a:effectLst/>
                        </a:rPr>
                        <a:t>. It is raining</a:t>
                      </a:r>
                      <a:endParaRPr lang="en-US" sz="1000" dirty="0">
                        <a:effectLst/>
                        <a:latin typeface="Calibri" panose="020F0502020204030204" pitchFamily="34" charset="0"/>
                        <a:ea typeface="Calibri" panose="020F0502020204030204" pitchFamily="34" charset="0"/>
                        <a:cs typeface="Arial" panose="020B0604020202020204" pitchFamily="34" charset="0"/>
                      </a:endParaRPr>
                    </a:p>
                  </a:txBody>
                  <a:tcPr marL="44366" marR="44366" marT="44366" marB="44366" anchor="ctr"/>
                </a:tc>
                <a:extLst>
                  <a:ext uri="{0D108BD9-81ED-4DB2-BD59-A6C34878D82A}">
                    <a16:rowId xmlns:a16="http://schemas.microsoft.com/office/drawing/2014/main" val="1211236455"/>
                  </a:ext>
                </a:extLst>
              </a:tr>
            </a:tbl>
          </a:graphicData>
        </a:graphic>
      </p:graphicFrame>
    </p:spTree>
    <p:extLst>
      <p:ext uri="{BB962C8B-B14F-4D97-AF65-F5344CB8AC3E}">
        <p14:creationId xmlns:p14="http://schemas.microsoft.com/office/powerpoint/2010/main" val="2995488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5"/>
          </a:xfrm>
        </p:spPr>
        <p:txBody>
          <a:bodyPr/>
          <a:lstStyle/>
          <a:p>
            <a:r>
              <a:rPr lang="en-US" b="1" dirty="0"/>
              <a:t>Table Tags:</a:t>
            </a:r>
            <a:endParaRPr lang="ar-SA" dirty="0"/>
          </a:p>
        </p:txBody>
      </p:sp>
      <p:sp>
        <p:nvSpPr>
          <p:cNvPr id="3" name="Content Placeholder 2"/>
          <p:cNvSpPr>
            <a:spLocks noGrp="1"/>
          </p:cNvSpPr>
          <p:nvPr>
            <p:ph idx="1"/>
          </p:nvPr>
        </p:nvSpPr>
        <p:spPr>
          <a:xfrm>
            <a:off x="838200" y="1371600"/>
            <a:ext cx="10515600" cy="4805363"/>
          </a:xfrm>
        </p:spPr>
        <p:txBody>
          <a:bodyPr/>
          <a:lstStyle/>
          <a:p>
            <a:r>
              <a:rPr lang="en-US" dirty="0"/>
              <a:t>Following table describe the commonly used table tags:</a:t>
            </a:r>
          </a:p>
          <a:p>
            <a:endParaRPr lang="ar-SA" dirty="0"/>
          </a:p>
        </p:txBody>
      </p:sp>
      <p:sp>
        <p:nvSpPr>
          <p:cNvPr id="7" name="Footer Placeholder 6"/>
          <p:cNvSpPr>
            <a:spLocks noGrp="1"/>
          </p:cNvSpPr>
          <p:nvPr>
            <p:ph type="ftr" sz="quarter" idx="11"/>
          </p:nvPr>
        </p:nvSpPr>
        <p:spPr/>
        <p:txBody>
          <a:bodyPr/>
          <a:lstStyle/>
          <a:p>
            <a:r>
              <a:rPr lang="en-US"/>
              <a:t>Internet Technologies - Chapter 3</a:t>
            </a:r>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pPr/>
              <a:t>6</a:t>
            </a:fld>
            <a:endParaRPr lang="ar-SA"/>
          </a:p>
        </p:txBody>
      </p:sp>
      <p:graphicFrame>
        <p:nvGraphicFramePr>
          <p:cNvPr id="5" name="Table 4"/>
          <p:cNvGraphicFramePr>
            <a:graphicFrameLocks noGrp="1"/>
          </p:cNvGraphicFramePr>
          <p:nvPr>
            <p:extLst>
              <p:ext uri="{D42A27DB-BD31-4B8C-83A1-F6EECF244321}">
                <p14:modId xmlns:p14="http://schemas.microsoft.com/office/powerpoint/2010/main" val="71321476"/>
              </p:ext>
            </p:extLst>
          </p:nvPr>
        </p:nvGraphicFramePr>
        <p:xfrm>
          <a:off x="1803863" y="2277686"/>
          <a:ext cx="7306886" cy="3241966"/>
        </p:xfrm>
        <a:graphic>
          <a:graphicData uri="http://schemas.openxmlformats.org/drawingml/2006/table">
            <a:tbl>
              <a:tblPr firstRow="1" firstCol="1" bandRow="1">
                <a:tableStyleId>{5C22544A-7EE6-4342-B048-85BDC9FD1C3A}</a:tableStyleId>
              </a:tblPr>
              <a:tblGrid>
                <a:gridCol w="1995545">
                  <a:extLst>
                    <a:ext uri="{9D8B030D-6E8A-4147-A177-3AD203B41FA5}">
                      <a16:colId xmlns:a16="http://schemas.microsoft.com/office/drawing/2014/main" val="3289725471"/>
                    </a:ext>
                  </a:extLst>
                </a:gridCol>
                <a:gridCol w="5311341">
                  <a:extLst>
                    <a:ext uri="{9D8B030D-6E8A-4147-A177-3AD203B41FA5}">
                      <a16:colId xmlns:a16="http://schemas.microsoft.com/office/drawing/2014/main" val="2307694874"/>
                    </a:ext>
                  </a:extLst>
                </a:gridCol>
              </a:tblGrid>
              <a:tr h="463138">
                <a:tc>
                  <a:txBody>
                    <a:bodyPr/>
                    <a:lstStyle/>
                    <a:p>
                      <a:pPr marL="0" marR="0">
                        <a:lnSpc>
                          <a:spcPct val="107000"/>
                        </a:lnSpc>
                        <a:spcBef>
                          <a:spcPts val="600"/>
                        </a:spcBef>
                        <a:spcAft>
                          <a:spcPts val="600"/>
                        </a:spcAft>
                      </a:pPr>
                      <a:r>
                        <a:rPr lang="en-US" sz="1200">
                          <a:effectLst/>
                        </a:rPr>
                        <a:t>Tag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Description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409631518"/>
                  </a:ext>
                </a:extLst>
              </a:tr>
              <a:tr h="463138">
                <a:tc>
                  <a:txBody>
                    <a:bodyPr/>
                    <a:lstStyle/>
                    <a:p>
                      <a:pPr marL="0" marR="0">
                        <a:lnSpc>
                          <a:spcPct val="107000"/>
                        </a:lnSpc>
                        <a:spcBef>
                          <a:spcPts val="600"/>
                        </a:spcBef>
                        <a:spcAft>
                          <a:spcPts val="600"/>
                        </a:spcAft>
                      </a:pPr>
                      <a:r>
                        <a:rPr lang="en-US" sz="1200">
                          <a:effectLst/>
                        </a:rPr>
                        <a:t>&lt;table&gt; &lt;/table&gt;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Specifies a table.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777720543"/>
                  </a:ext>
                </a:extLst>
              </a:tr>
              <a:tr h="463138">
                <a:tc>
                  <a:txBody>
                    <a:bodyPr/>
                    <a:lstStyle/>
                    <a:p>
                      <a:pPr marL="0" marR="0">
                        <a:lnSpc>
                          <a:spcPct val="107000"/>
                        </a:lnSpc>
                        <a:spcBef>
                          <a:spcPts val="600"/>
                        </a:spcBef>
                        <a:spcAft>
                          <a:spcPts val="600"/>
                        </a:spcAft>
                      </a:pPr>
                      <a:r>
                        <a:rPr lang="en-US" sz="1200">
                          <a:effectLst/>
                        </a:rPr>
                        <a:t>&lt;tr&gt; &lt;/tr&gt;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Specifies a row in the table.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815633312"/>
                  </a:ext>
                </a:extLst>
              </a:tr>
              <a:tr h="463138">
                <a:tc>
                  <a:txBody>
                    <a:bodyPr/>
                    <a:lstStyle/>
                    <a:p>
                      <a:pPr marL="0" marR="0">
                        <a:lnSpc>
                          <a:spcPct val="107000"/>
                        </a:lnSpc>
                        <a:spcBef>
                          <a:spcPts val="600"/>
                        </a:spcBef>
                        <a:spcAft>
                          <a:spcPts val="600"/>
                        </a:spcAft>
                      </a:pPr>
                      <a:r>
                        <a:rPr lang="en-US" sz="1200">
                          <a:effectLst/>
                        </a:rPr>
                        <a:t>&lt;th&gt; &lt;/th&gt;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Specifies header cell in the table.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745568121"/>
                  </a:ext>
                </a:extLst>
              </a:tr>
              <a:tr h="463138">
                <a:tc>
                  <a:txBody>
                    <a:bodyPr/>
                    <a:lstStyle/>
                    <a:p>
                      <a:pPr marL="0" marR="0">
                        <a:lnSpc>
                          <a:spcPct val="107000"/>
                        </a:lnSpc>
                        <a:spcBef>
                          <a:spcPts val="600"/>
                        </a:spcBef>
                        <a:spcAft>
                          <a:spcPts val="600"/>
                        </a:spcAft>
                      </a:pPr>
                      <a:r>
                        <a:rPr lang="en-US" sz="1200">
                          <a:effectLst/>
                        </a:rPr>
                        <a:t>&lt;td&gt; &lt;/td&gt;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Specifies the data in an cell of the table.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851300581"/>
                  </a:ext>
                </a:extLst>
              </a:tr>
              <a:tr h="463138">
                <a:tc>
                  <a:txBody>
                    <a:bodyPr/>
                    <a:lstStyle/>
                    <a:p>
                      <a:pPr marL="0" marR="0">
                        <a:lnSpc>
                          <a:spcPct val="107000"/>
                        </a:lnSpc>
                        <a:spcBef>
                          <a:spcPts val="600"/>
                        </a:spcBef>
                        <a:spcAft>
                          <a:spcPts val="600"/>
                        </a:spcAft>
                      </a:pPr>
                      <a:r>
                        <a:rPr lang="en-US" sz="1200">
                          <a:effectLst/>
                        </a:rPr>
                        <a:t>&lt;caption&gt; &lt;/caption&gt;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Specifies the table caption.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578572464"/>
                  </a:ext>
                </a:extLst>
              </a:tr>
              <a:tr h="463138">
                <a:tc>
                  <a:txBody>
                    <a:bodyPr/>
                    <a:lstStyle/>
                    <a:p>
                      <a:pPr marL="0" marR="0">
                        <a:lnSpc>
                          <a:spcPct val="107000"/>
                        </a:lnSpc>
                        <a:spcBef>
                          <a:spcPts val="600"/>
                        </a:spcBef>
                        <a:spcAft>
                          <a:spcPts val="600"/>
                        </a:spcAft>
                      </a:pPr>
                      <a:r>
                        <a:rPr lang="en-US" sz="1200">
                          <a:effectLst/>
                        </a:rPr>
                        <a:t>&lt;colgroup&gt; &lt;/colgroup&gt;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dirty="0">
                          <a:effectLst/>
                        </a:rPr>
                        <a:t>Specifies a group of columns in a table for formatting.</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638582463"/>
                  </a:ext>
                </a:extLst>
              </a:tr>
            </a:tbl>
          </a:graphicData>
        </a:graphic>
      </p:graphicFrame>
    </p:spTree>
    <p:extLst>
      <p:ext uri="{BB962C8B-B14F-4D97-AF65-F5344CB8AC3E}">
        <p14:creationId xmlns:p14="http://schemas.microsoft.com/office/powerpoint/2010/main" val="1177343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39479"/>
          </a:xfrm>
        </p:spPr>
        <p:txBody>
          <a:bodyPr/>
          <a:lstStyle/>
          <a:p>
            <a:r>
              <a:rPr lang="en-US" b="1" dirty="0"/>
              <a:t>List tags:</a:t>
            </a:r>
            <a:endParaRPr lang="ar-SA" dirty="0"/>
          </a:p>
        </p:txBody>
      </p:sp>
      <p:sp>
        <p:nvSpPr>
          <p:cNvPr id="3" name="Content Placeholder 2"/>
          <p:cNvSpPr>
            <a:spLocks noGrp="1"/>
          </p:cNvSpPr>
          <p:nvPr>
            <p:ph idx="1"/>
          </p:nvPr>
        </p:nvSpPr>
        <p:spPr>
          <a:xfrm>
            <a:off x="838200" y="1504604"/>
            <a:ext cx="10515600" cy="4672359"/>
          </a:xfrm>
        </p:spPr>
        <p:txBody>
          <a:bodyPr/>
          <a:lstStyle/>
          <a:p>
            <a:r>
              <a:rPr lang="en-US" dirty="0"/>
              <a:t>Following table describe the commonly used list tags:</a:t>
            </a:r>
          </a:p>
          <a:p>
            <a:endParaRPr lang="ar-SA" dirty="0"/>
          </a:p>
        </p:txBody>
      </p:sp>
      <p:sp>
        <p:nvSpPr>
          <p:cNvPr id="6" name="Footer Placeholder 5"/>
          <p:cNvSpPr>
            <a:spLocks noGrp="1"/>
          </p:cNvSpPr>
          <p:nvPr>
            <p:ph type="ftr" sz="quarter" idx="11"/>
          </p:nvPr>
        </p:nvSpPr>
        <p:spPr/>
        <p:txBody>
          <a:bodyPr/>
          <a:lstStyle/>
          <a:p>
            <a:r>
              <a:rPr lang="en-US"/>
              <a:t>Internet Technologies - Chapter 3</a:t>
            </a:r>
            <a:endParaRPr lang="ar-SA"/>
          </a:p>
        </p:txBody>
      </p:sp>
      <p:sp>
        <p:nvSpPr>
          <p:cNvPr id="5" name="Slide Number Placeholder 4"/>
          <p:cNvSpPr>
            <a:spLocks noGrp="1"/>
          </p:cNvSpPr>
          <p:nvPr>
            <p:ph type="sldNum" sz="quarter" idx="12"/>
          </p:nvPr>
        </p:nvSpPr>
        <p:spPr/>
        <p:txBody>
          <a:bodyPr/>
          <a:lstStyle/>
          <a:p>
            <a:fld id="{0E432819-B1C9-4D2F-8F6B-911D67ACBAA2}" type="slidenum">
              <a:rPr lang="ar-SA" smtClean="0"/>
              <a:pPr/>
              <a:t>7</a:t>
            </a:fld>
            <a:endParaRPr lang="ar-SA"/>
          </a:p>
        </p:txBody>
      </p:sp>
      <p:graphicFrame>
        <p:nvGraphicFramePr>
          <p:cNvPr id="4" name="Table 3"/>
          <p:cNvGraphicFramePr>
            <a:graphicFrameLocks noGrp="1"/>
          </p:cNvGraphicFramePr>
          <p:nvPr>
            <p:extLst>
              <p:ext uri="{D42A27DB-BD31-4B8C-83A1-F6EECF244321}">
                <p14:modId xmlns:p14="http://schemas.microsoft.com/office/powerpoint/2010/main" val="227845302"/>
              </p:ext>
            </p:extLst>
          </p:nvPr>
        </p:nvGraphicFramePr>
        <p:xfrm>
          <a:off x="1812175" y="2543693"/>
          <a:ext cx="7248698" cy="2917768"/>
        </p:xfrm>
        <a:graphic>
          <a:graphicData uri="http://schemas.openxmlformats.org/drawingml/2006/table">
            <a:tbl>
              <a:tblPr firstRow="1" firstCol="1" bandRow="1">
                <a:tableStyleId>{5C22544A-7EE6-4342-B048-85BDC9FD1C3A}</a:tableStyleId>
              </a:tblPr>
              <a:tblGrid>
                <a:gridCol w="1955534">
                  <a:extLst>
                    <a:ext uri="{9D8B030D-6E8A-4147-A177-3AD203B41FA5}">
                      <a16:colId xmlns:a16="http://schemas.microsoft.com/office/drawing/2014/main" val="553050488"/>
                    </a:ext>
                  </a:extLst>
                </a:gridCol>
                <a:gridCol w="5293164">
                  <a:extLst>
                    <a:ext uri="{9D8B030D-6E8A-4147-A177-3AD203B41FA5}">
                      <a16:colId xmlns:a16="http://schemas.microsoft.com/office/drawing/2014/main" val="1246043407"/>
                    </a:ext>
                  </a:extLst>
                </a:gridCol>
              </a:tblGrid>
              <a:tr h="416824">
                <a:tc>
                  <a:txBody>
                    <a:bodyPr/>
                    <a:lstStyle/>
                    <a:p>
                      <a:pPr marL="0" marR="0">
                        <a:lnSpc>
                          <a:spcPct val="107000"/>
                        </a:lnSpc>
                        <a:spcBef>
                          <a:spcPts val="600"/>
                        </a:spcBef>
                        <a:spcAft>
                          <a:spcPts val="600"/>
                        </a:spcAft>
                      </a:pPr>
                      <a:r>
                        <a:rPr lang="en-US" sz="1200">
                          <a:effectLst/>
                        </a:rPr>
                        <a:t>Tag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Description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359009364"/>
                  </a:ext>
                </a:extLst>
              </a:tr>
              <a:tr h="416824">
                <a:tc>
                  <a:txBody>
                    <a:bodyPr/>
                    <a:lstStyle/>
                    <a:p>
                      <a:pPr marL="0" marR="0">
                        <a:lnSpc>
                          <a:spcPct val="107000"/>
                        </a:lnSpc>
                        <a:spcBef>
                          <a:spcPts val="600"/>
                        </a:spcBef>
                        <a:spcAft>
                          <a:spcPts val="600"/>
                        </a:spcAft>
                      </a:pPr>
                      <a:r>
                        <a:rPr lang="en-US" sz="1200">
                          <a:effectLst/>
                        </a:rPr>
                        <a:t>&lt;ul&gt; &lt;/ul&gt;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Specifies an unordered list.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805759152"/>
                  </a:ext>
                </a:extLst>
              </a:tr>
              <a:tr h="416824">
                <a:tc>
                  <a:txBody>
                    <a:bodyPr/>
                    <a:lstStyle/>
                    <a:p>
                      <a:pPr marL="0" marR="0">
                        <a:lnSpc>
                          <a:spcPct val="107000"/>
                        </a:lnSpc>
                        <a:spcBef>
                          <a:spcPts val="600"/>
                        </a:spcBef>
                        <a:spcAft>
                          <a:spcPts val="600"/>
                        </a:spcAft>
                      </a:pPr>
                      <a:r>
                        <a:rPr lang="en-US" sz="1200">
                          <a:effectLst/>
                        </a:rPr>
                        <a:t>&lt;ol&gt; &lt;/ol&gt;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Specifies an ordered list.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692362740"/>
                  </a:ext>
                </a:extLst>
              </a:tr>
              <a:tr h="416824">
                <a:tc>
                  <a:txBody>
                    <a:bodyPr/>
                    <a:lstStyle/>
                    <a:p>
                      <a:pPr marL="0" marR="0">
                        <a:lnSpc>
                          <a:spcPct val="107000"/>
                        </a:lnSpc>
                        <a:spcBef>
                          <a:spcPts val="600"/>
                        </a:spcBef>
                        <a:spcAft>
                          <a:spcPts val="600"/>
                        </a:spcAft>
                      </a:pPr>
                      <a:r>
                        <a:rPr lang="en-US" sz="1200">
                          <a:effectLst/>
                        </a:rPr>
                        <a:t>&lt;li&gt; &lt;/li&gt;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Specifies a list item.</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793370758"/>
                  </a:ext>
                </a:extLst>
              </a:tr>
              <a:tr h="416824">
                <a:tc>
                  <a:txBody>
                    <a:bodyPr/>
                    <a:lstStyle/>
                    <a:p>
                      <a:pPr marL="0" marR="0">
                        <a:lnSpc>
                          <a:spcPct val="107000"/>
                        </a:lnSpc>
                        <a:spcBef>
                          <a:spcPts val="600"/>
                        </a:spcBef>
                        <a:spcAft>
                          <a:spcPts val="600"/>
                        </a:spcAft>
                      </a:pPr>
                      <a:r>
                        <a:rPr lang="en-US" sz="1200">
                          <a:effectLst/>
                        </a:rPr>
                        <a:t>&lt;dl&gt; &lt;/dl&gt;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Specifies a description list.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44768535"/>
                  </a:ext>
                </a:extLst>
              </a:tr>
              <a:tr h="416824">
                <a:tc>
                  <a:txBody>
                    <a:bodyPr/>
                    <a:lstStyle/>
                    <a:p>
                      <a:pPr marL="0" marR="0">
                        <a:lnSpc>
                          <a:spcPct val="107000"/>
                        </a:lnSpc>
                        <a:spcBef>
                          <a:spcPts val="600"/>
                        </a:spcBef>
                        <a:spcAft>
                          <a:spcPts val="600"/>
                        </a:spcAft>
                      </a:pPr>
                      <a:r>
                        <a:rPr lang="en-US" sz="1200">
                          <a:effectLst/>
                        </a:rPr>
                        <a:t>&lt;dt&gt; &lt;/dt&gt;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Specifies the term in a description list.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015817550"/>
                  </a:ext>
                </a:extLst>
              </a:tr>
              <a:tr h="416824">
                <a:tc>
                  <a:txBody>
                    <a:bodyPr/>
                    <a:lstStyle/>
                    <a:p>
                      <a:pPr marL="0" marR="0">
                        <a:lnSpc>
                          <a:spcPct val="107000"/>
                        </a:lnSpc>
                        <a:spcBef>
                          <a:spcPts val="600"/>
                        </a:spcBef>
                        <a:spcAft>
                          <a:spcPts val="600"/>
                        </a:spcAft>
                      </a:pPr>
                      <a:r>
                        <a:rPr lang="en-US" sz="1200">
                          <a:effectLst/>
                        </a:rPr>
                        <a:t>&lt;dd&gt; &lt;/dd&gt;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dirty="0">
                          <a:effectLst/>
                        </a:rPr>
                        <a:t>Specifies description of term in a description list.</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532932876"/>
                  </a:ext>
                </a:extLst>
              </a:tr>
            </a:tbl>
          </a:graphicData>
        </a:graphic>
      </p:graphicFrame>
    </p:spTree>
    <p:extLst>
      <p:ext uri="{BB962C8B-B14F-4D97-AF65-F5344CB8AC3E}">
        <p14:creationId xmlns:p14="http://schemas.microsoft.com/office/powerpoint/2010/main" val="2138405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Frames:</a:t>
            </a:r>
            <a:endParaRPr lang="ar-SA" b="1" dirty="0"/>
          </a:p>
        </p:txBody>
      </p:sp>
      <p:sp>
        <p:nvSpPr>
          <p:cNvPr id="3" name="Content Placeholder 2"/>
          <p:cNvSpPr>
            <a:spLocks noGrp="1"/>
          </p:cNvSpPr>
          <p:nvPr>
            <p:ph idx="1"/>
          </p:nvPr>
        </p:nvSpPr>
        <p:spPr/>
        <p:txBody>
          <a:bodyPr>
            <a:normAutofit/>
          </a:bodyPr>
          <a:lstStyle/>
          <a:p>
            <a:pPr algn="just"/>
            <a:r>
              <a:rPr lang="en-US" b="1" dirty="0"/>
              <a:t>Frames</a:t>
            </a:r>
            <a:r>
              <a:rPr lang="en-US" dirty="0"/>
              <a:t> help us to divide the browser’s window into multiple rectangular regions. Each region contains separate html web page and each of them work independently.</a:t>
            </a:r>
          </a:p>
          <a:p>
            <a:pPr algn="just"/>
            <a:r>
              <a:rPr lang="en-US" dirty="0"/>
              <a:t>A set of frames in the entire browser is known as frameset. It tells the browser how to divide browser window into frames and the web pages that each has to load.</a:t>
            </a:r>
          </a:p>
          <a:p>
            <a:pPr algn="just"/>
            <a:r>
              <a:rPr lang="en-US" dirty="0"/>
              <a:t>The following table describes the various tags used for creating frames:</a:t>
            </a:r>
            <a:endParaRPr lang="ar-SA" dirty="0"/>
          </a:p>
        </p:txBody>
      </p:sp>
      <p:sp>
        <p:nvSpPr>
          <p:cNvPr id="5" name="Footer Placeholder 4"/>
          <p:cNvSpPr>
            <a:spLocks noGrp="1"/>
          </p:cNvSpPr>
          <p:nvPr>
            <p:ph type="ftr" sz="quarter" idx="11"/>
          </p:nvPr>
        </p:nvSpPr>
        <p:spPr/>
        <p:txBody>
          <a:bodyPr/>
          <a:lstStyle/>
          <a:p>
            <a:r>
              <a:rPr lang="en-US"/>
              <a:t>Internet Technologies - Chapter 3</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8</a:t>
            </a:fld>
            <a:endParaRPr lang="ar-SA"/>
          </a:p>
        </p:txBody>
      </p:sp>
    </p:spTree>
    <p:extLst>
      <p:ext uri="{BB962C8B-B14F-4D97-AF65-F5344CB8AC3E}">
        <p14:creationId xmlns:p14="http://schemas.microsoft.com/office/powerpoint/2010/main" val="2301510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Frame tags:</a:t>
            </a:r>
            <a:endParaRPr lang="ar-SA" b="1" dirty="0"/>
          </a:p>
        </p:txBody>
      </p:sp>
      <p:sp>
        <p:nvSpPr>
          <p:cNvPr id="3" name="Content Placeholder 2"/>
          <p:cNvSpPr>
            <a:spLocks noGrp="1"/>
          </p:cNvSpPr>
          <p:nvPr>
            <p:ph idx="1"/>
          </p:nvPr>
        </p:nvSpPr>
        <p:spPr>
          <a:xfrm>
            <a:off x="853440" y="1817312"/>
            <a:ext cx="10515600" cy="4351338"/>
          </a:xfrm>
        </p:spPr>
        <p:txBody>
          <a:bodyPr/>
          <a:lstStyle/>
          <a:p>
            <a:r>
              <a:rPr lang="en-US" dirty="0"/>
              <a:t>The following table describes the various tags used for creating frames:</a:t>
            </a:r>
          </a:p>
          <a:p>
            <a:endParaRPr lang="ar-SA" dirty="0"/>
          </a:p>
        </p:txBody>
      </p:sp>
      <p:sp>
        <p:nvSpPr>
          <p:cNvPr id="7" name="Footer Placeholder 6"/>
          <p:cNvSpPr>
            <a:spLocks noGrp="1"/>
          </p:cNvSpPr>
          <p:nvPr>
            <p:ph type="ftr" sz="quarter" idx="11"/>
          </p:nvPr>
        </p:nvSpPr>
        <p:spPr/>
        <p:txBody>
          <a:bodyPr/>
          <a:lstStyle/>
          <a:p>
            <a:r>
              <a:rPr lang="en-US"/>
              <a:t>Internet Technologies - Chapter 3</a:t>
            </a:r>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pPr/>
              <a:t>9</a:t>
            </a:fld>
            <a:endParaRPr lang="ar-SA"/>
          </a:p>
        </p:txBody>
      </p:sp>
      <p:graphicFrame>
        <p:nvGraphicFramePr>
          <p:cNvPr id="5" name="Table 4"/>
          <p:cNvGraphicFramePr>
            <a:graphicFrameLocks noGrp="1"/>
          </p:cNvGraphicFramePr>
          <p:nvPr>
            <p:extLst>
              <p:ext uri="{D42A27DB-BD31-4B8C-83A1-F6EECF244321}">
                <p14:modId xmlns:p14="http://schemas.microsoft.com/office/powerpoint/2010/main" val="956697638"/>
              </p:ext>
            </p:extLst>
          </p:nvPr>
        </p:nvGraphicFramePr>
        <p:xfrm>
          <a:off x="2344190" y="2909456"/>
          <a:ext cx="6932814" cy="2909454"/>
        </p:xfrm>
        <a:graphic>
          <a:graphicData uri="http://schemas.openxmlformats.org/drawingml/2006/table">
            <a:tbl>
              <a:tblPr firstRow="1" firstCol="1" bandRow="1">
                <a:tableStyleId>{5C22544A-7EE6-4342-B048-85BDC9FD1C3A}</a:tableStyleId>
              </a:tblPr>
              <a:tblGrid>
                <a:gridCol w="2190870">
                  <a:extLst>
                    <a:ext uri="{9D8B030D-6E8A-4147-A177-3AD203B41FA5}">
                      <a16:colId xmlns:a16="http://schemas.microsoft.com/office/drawing/2014/main" val="1111803885"/>
                    </a:ext>
                  </a:extLst>
                </a:gridCol>
                <a:gridCol w="4741944">
                  <a:extLst>
                    <a:ext uri="{9D8B030D-6E8A-4147-A177-3AD203B41FA5}">
                      <a16:colId xmlns:a16="http://schemas.microsoft.com/office/drawing/2014/main" val="311320083"/>
                    </a:ext>
                  </a:extLst>
                </a:gridCol>
              </a:tblGrid>
              <a:tr h="483467">
                <a:tc>
                  <a:txBody>
                    <a:bodyPr/>
                    <a:lstStyle/>
                    <a:p>
                      <a:pPr marL="0" marR="0">
                        <a:lnSpc>
                          <a:spcPct val="107000"/>
                        </a:lnSpc>
                        <a:spcBef>
                          <a:spcPts val="600"/>
                        </a:spcBef>
                        <a:spcAft>
                          <a:spcPts val="600"/>
                        </a:spcAft>
                      </a:pPr>
                      <a:r>
                        <a:rPr lang="en-US" sz="1200">
                          <a:effectLst/>
                        </a:rPr>
                        <a:t>Tag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Description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307840535"/>
                  </a:ext>
                </a:extLst>
              </a:tr>
              <a:tr h="1133858">
                <a:tc>
                  <a:txBody>
                    <a:bodyPr/>
                    <a:lstStyle/>
                    <a:p>
                      <a:pPr marL="0" marR="0">
                        <a:lnSpc>
                          <a:spcPct val="107000"/>
                        </a:lnSpc>
                        <a:spcBef>
                          <a:spcPts val="600"/>
                        </a:spcBef>
                        <a:spcAft>
                          <a:spcPts val="600"/>
                        </a:spcAft>
                      </a:pPr>
                      <a:r>
                        <a:rPr lang="en-US" sz="1200">
                          <a:effectLst/>
                        </a:rPr>
                        <a:t>&lt;frameset&gt; &lt;/frameset&gt;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It is replacement of the &lt;body&gt; tag. It doesn’t contain the tags that are normally used in &lt;body&gt; element; instead it contains the &lt;frame&gt; element used to add each frame.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385505085"/>
                  </a:ext>
                </a:extLst>
              </a:tr>
              <a:tr h="483467">
                <a:tc>
                  <a:txBody>
                    <a:bodyPr/>
                    <a:lstStyle/>
                    <a:p>
                      <a:pPr marL="0" marR="0">
                        <a:lnSpc>
                          <a:spcPct val="107000"/>
                        </a:lnSpc>
                        <a:spcBef>
                          <a:spcPts val="600"/>
                        </a:spcBef>
                        <a:spcAft>
                          <a:spcPts val="600"/>
                        </a:spcAft>
                      </a:pPr>
                      <a:r>
                        <a:rPr lang="en-US" sz="1200">
                          <a:effectLst/>
                        </a:rPr>
                        <a:t>&lt;frame&gt; &lt;/frame&gt;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Specifies the content of different frames in a web page.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523856999"/>
                  </a:ext>
                </a:extLst>
              </a:tr>
              <a:tr h="808662">
                <a:tc>
                  <a:txBody>
                    <a:bodyPr/>
                    <a:lstStyle/>
                    <a:p>
                      <a:pPr marL="0" marR="0">
                        <a:lnSpc>
                          <a:spcPct val="107000"/>
                        </a:lnSpc>
                        <a:spcBef>
                          <a:spcPts val="600"/>
                        </a:spcBef>
                        <a:spcAft>
                          <a:spcPts val="600"/>
                        </a:spcAft>
                      </a:pPr>
                      <a:r>
                        <a:rPr lang="en-US" sz="1200">
                          <a:effectLst/>
                        </a:rPr>
                        <a:t>&lt;base&gt; &lt;/base&gt;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dirty="0">
                          <a:effectLst/>
                        </a:rPr>
                        <a:t>It is used to set the default target frame in any page that contains links whose contents are displayed in another frame.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526663319"/>
                  </a:ext>
                </a:extLst>
              </a:tr>
            </a:tbl>
          </a:graphicData>
        </a:graphic>
      </p:graphicFrame>
    </p:spTree>
    <p:extLst>
      <p:ext uri="{BB962C8B-B14F-4D97-AF65-F5344CB8AC3E}">
        <p14:creationId xmlns:p14="http://schemas.microsoft.com/office/powerpoint/2010/main" val="3635736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Forms:</a:t>
            </a:r>
            <a:endParaRPr lang="ar-SA" b="1" dirty="0"/>
          </a:p>
        </p:txBody>
      </p:sp>
      <p:sp>
        <p:nvSpPr>
          <p:cNvPr id="3" name="Content Placeholder 2"/>
          <p:cNvSpPr>
            <a:spLocks noGrp="1"/>
          </p:cNvSpPr>
          <p:nvPr>
            <p:ph idx="1"/>
          </p:nvPr>
        </p:nvSpPr>
        <p:spPr/>
        <p:txBody>
          <a:bodyPr/>
          <a:lstStyle/>
          <a:p>
            <a:r>
              <a:rPr lang="en-US" b="1" dirty="0"/>
              <a:t>Forms</a:t>
            </a:r>
            <a:r>
              <a:rPr lang="en-US" dirty="0"/>
              <a:t> are used to input the values. These values are sent to the server for processing. Forms uses input elements such as text fields, check boxes, radio buttons, lists, submit buttons etc. to enter the data into it.</a:t>
            </a:r>
          </a:p>
          <a:p>
            <a:r>
              <a:rPr lang="en-US" dirty="0"/>
              <a:t>The following table describes the commonly used tags while creating a form:</a:t>
            </a:r>
            <a:endParaRPr lang="ar-SA" dirty="0"/>
          </a:p>
        </p:txBody>
      </p:sp>
      <p:sp>
        <p:nvSpPr>
          <p:cNvPr id="5" name="Footer Placeholder 4"/>
          <p:cNvSpPr>
            <a:spLocks noGrp="1"/>
          </p:cNvSpPr>
          <p:nvPr>
            <p:ph type="ftr" sz="quarter" idx="11"/>
          </p:nvPr>
        </p:nvSpPr>
        <p:spPr/>
        <p:txBody>
          <a:bodyPr/>
          <a:lstStyle/>
          <a:p>
            <a:r>
              <a:rPr lang="en-US"/>
              <a:t>Internet Technologies - Chapter 3</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10</a:t>
            </a:fld>
            <a:endParaRPr lang="ar-SA"/>
          </a:p>
        </p:txBody>
      </p:sp>
    </p:spTree>
    <p:extLst>
      <p:ext uri="{BB962C8B-B14F-4D97-AF65-F5344CB8AC3E}">
        <p14:creationId xmlns:p14="http://schemas.microsoft.com/office/powerpoint/2010/main" val="364351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Form tag:</a:t>
            </a:r>
            <a:endParaRPr lang="ar-SA"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46334427"/>
              </p:ext>
            </p:extLst>
          </p:nvPr>
        </p:nvGraphicFramePr>
        <p:xfrm>
          <a:off x="2618509" y="2294310"/>
          <a:ext cx="6758247" cy="2859580"/>
        </p:xfrm>
        <a:graphic>
          <a:graphicData uri="http://schemas.openxmlformats.org/drawingml/2006/table">
            <a:tbl>
              <a:tblPr firstRow="1" firstCol="1" bandRow="1">
                <a:tableStyleId>{5C22544A-7EE6-4342-B048-85BDC9FD1C3A}</a:tableStyleId>
              </a:tblPr>
              <a:tblGrid>
                <a:gridCol w="2046068">
                  <a:extLst>
                    <a:ext uri="{9D8B030D-6E8A-4147-A177-3AD203B41FA5}">
                      <a16:colId xmlns:a16="http://schemas.microsoft.com/office/drawing/2014/main" val="514775152"/>
                    </a:ext>
                  </a:extLst>
                </a:gridCol>
                <a:gridCol w="4712179">
                  <a:extLst>
                    <a:ext uri="{9D8B030D-6E8A-4147-A177-3AD203B41FA5}">
                      <a16:colId xmlns:a16="http://schemas.microsoft.com/office/drawing/2014/main" val="1035258997"/>
                    </a:ext>
                  </a:extLst>
                </a:gridCol>
              </a:tblGrid>
              <a:tr h="521434">
                <a:tc>
                  <a:txBody>
                    <a:bodyPr/>
                    <a:lstStyle/>
                    <a:p>
                      <a:pPr marL="0" marR="0">
                        <a:lnSpc>
                          <a:spcPct val="107000"/>
                        </a:lnSpc>
                        <a:spcBef>
                          <a:spcPts val="600"/>
                        </a:spcBef>
                        <a:spcAft>
                          <a:spcPts val="600"/>
                        </a:spcAft>
                      </a:pPr>
                      <a:r>
                        <a:rPr lang="en-US" sz="1200">
                          <a:effectLst/>
                        </a:rPr>
                        <a:t>Tag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Description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702760897"/>
                  </a:ext>
                </a:extLst>
              </a:tr>
              <a:tr h="521434">
                <a:tc>
                  <a:txBody>
                    <a:bodyPr/>
                    <a:lstStyle/>
                    <a:p>
                      <a:pPr marL="0" marR="0">
                        <a:lnSpc>
                          <a:spcPct val="107000"/>
                        </a:lnSpc>
                        <a:spcBef>
                          <a:spcPts val="600"/>
                        </a:spcBef>
                        <a:spcAft>
                          <a:spcPts val="600"/>
                        </a:spcAft>
                      </a:pPr>
                      <a:r>
                        <a:rPr lang="en-US" sz="1200">
                          <a:effectLst/>
                        </a:rPr>
                        <a:t>&lt;form&gt; &lt;/form&gt;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It is used to create HTML form.</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956442265"/>
                  </a:ext>
                </a:extLst>
              </a:tr>
              <a:tr h="521434">
                <a:tc>
                  <a:txBody>
                    <a:bodyPr/>
                    <a:lstStyle/>
                    <a:p>
                      <a:pPr marL="0" marR="0">
                        <a:lnSpc>
                          <a:spcPct val="107000"/>
                        </a:lnSpc>
                        <a:spcBef>
                          <a:spcPts val="600"/>
                        </a:spcBef>
                        <a:spcAft>
                          <a:spcPts val="600"/>
                        </a:spcAft>
                      </a:pPr>
                      <a:r>
                        <a:rPr lang="en-US" sz="1200">
                          <a:effectLst/>
                        </a:rPr>
                        <a:t>&lt;input&gt; &lt;/input&gt;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Specifies the input field.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529845152"/>
                  </a:ext>
                </a:extLst>
              </a:tr>
              <a:tr h="773844">
                <a:tc>
                  <a:txBody>
                    <a:bodyPr/>
                    <a:lstStyle/>
                    <a:p>
                      <a:pPr marL="0" marR="0">
                        <a:lnSpc>
                          <a:spcPct val="107000"/>
                        </a:lnSpc>
                        <a:spcBef>
                          <a:spcPts val="600"/>
                        </a:spcBef>
                        <a:spcAft>
                          <a:spcPts val="600"/>
                        </a:spcAft>
                      </a:pPr>
                      <a:r>
                        <a:rPr lang="en-US" sz="1200">
                          <a:effectLst/>
                        </a:rPr>
                        <a:t>&lt;textarea&gt; &lt;/textarea&gt;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Specifies a text area control that allows to enter multi-line text.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882949095"/>
                  </a:ext>
                </a:extLst>
              </a:tr>
              <a:tr h="521434">
                <a:tc>
                  <a:txBody>
                    <a:bodyPr/>
                    <a:lstStyle/>
                    <a:p>
                      <a:pPr marL="0" marR="0">
                        <a:lnSpc>
                          <a:spcPct val="107000"/>
                        </a:lnSpc>
                        <a:spcBef>
                          <a:spcPts val="600"/>
                        </a:spcBef>
                        <a:spcAft>
                          <a:spcPts val="600"/>
                        </a:spcAft>
                      </a:pPr>
                      <a:r>
                        <a:rPr lang="en-US" sz="1200">
                          <a:effectLst/>
                        </a:rPr>
                        <a:t>&lt;label&gt; &lt;/label&gt;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dirty="0">
                          <a:effectLst/>
                        </a:rPr>
                        <a:t>Specifies the label for an input element.</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246556521"/>
                  </a:ext>
                </a:extLst>
              </a:tr>
            </a:tbl>
          </a:graphicData>
        </a:graphic>
      </p:graphicFrame>
      <p:sp>
        <p:nvSpPr>
          <p:cNvPr id="6" name="Footer Placeholder 5"/>
          <p:cNvSpPr>
            <a:spLocks noGrp="1"/>
          </p:cNvSpPr>
          <p:nvPr>
            <p:ph type="ftr" sz="quarter" idx="11"/>
          </p:nvPr>
        </p:nvSpPr>
        <p:spPr/>
        <p:txBody>
          <a:bodyPr/>
          <a:lstStyle/>
          <a:p>
            <a:r>
              <a:rPr lang="en-US"/>
              <a:t>Internet Technologies - Chapter 3</a:t>
            </a:r>
            <a:endParaRPr lang="ar-SA"/>
          </a:p>
        </p:txBody>
      </p:sp>
      <p:sp>
        <p:nvSpPr>
          <p:cNvPr id="5" name="Slide Number Placeholder 4"/>
          <p:cNvSpPr>
            <a:spLocks noGrp="1"/>
          </p:cNvSpPr>
          <p:nvPr>
            <p:ph type="sldNum" sz="quarter" idx="12"/>
          </p:nvPr>
        </p:nvSpPr>
        <p:spPr/>
        <p:txBody>
          <a:bodyPr/>
          <a:lstStyle/>
          <a:p>
            <a:fld id="{0E432819-B1C9-4D2F-8F6B-911D67ACBAA2}" type="slidenum">
              <a:rPr lang="ar-SA" smtClean="0"/>
              <a:pPr/>
              <a:t>11</a:t>
            </a:fld>
            <a:endParaRPr lang="ar-SA"/>
          </a:p>
        </p:txBody>
      </p:sp>
    </p:spTree>
    <p:extLst>
      <p:ext uri="{BB962C8B-B14F-4D97-AF65-F5344CB8AC3E}">
        <p14:creationId xmlns:p14="http://schemas.microsoft.com/office/powerpoint/2010/main" val="35279249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تكامل">
  <a:themeElements>
    <a:clrScheme name="تكامل">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تكامل">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تكامل">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Integral</Template>
  <TotalTime>102</TotalTime>
  <Words>1167</Words>
  <Application>Microsoft Office PowerPoint</Application>
  <PresentationFormat>شاشة عريضة</PresentationFormat>
  <Paragraphs>150</Paragraphs>
  <Slides>11</Slides>
  <Notes>0</Notes>
  <HiddenSlides>0</HiddenSlides>
  <MMClips>0</MMClips>
  <ScaleCrop>false</ScaleCrop>
  <HeadingPairs>
    <vt:vector size="6" baseType="variant">
      <vt:variant>
        <vt:lpstr>الخطوط المستخدمة</vt:lpstr>
      </vt:variant>
      <vt:variant>
        <vt:i4>4</vt:i4>
      </vt:variant>
      <vt:variant>
        <vt:lpstr>نسق</vt:lpstr>
      </vt:variant>
      <vt:variant>
        <vt:i4>1</vt:i4>
      </vt:variant>
      <vt:variant>
        <vt:lpstr>عناوين الشرائح</vt:lpstr>
      </vt:variant>
      <vt:variant>
        <vt:i4>11</vt:i4>
      </vt:variant>
    </vt:vector>
  </HeadingPairs>
  <TitlesOfParts>
    <vt:vector size="16" baseType="lpstr">
      <vt:lpstr>Calibri</vt:lpstr>
      <vt:lpstr>Tw Cen MT</vt:lpstr>
      <vt:lpstr>Tw Cen MT Condensed</vt:lpstr>
      <vt:lpstr>Wingdings 3</vt:lpstr>
      <vt:lpstr>تكامل</vt:lpstr>
      <vt:lpstr>Internet Technologies MIS-341-4</vt:lpstr>
      <vt:lpstr>Introduction to HTML</vt:lpstr>
      <vt:lpstr>HTML Tag:</vt:lpstr>
      <vt:lpstr>Basic tags:</vt:lpstr>
      <vt:lpstr>Formatting Tags:</vt:lpstr>
      <vt:lpstr>Table Tags:</vt:lpstr>
      <vt:lpstr>List tags:</vt:lpstr>
      <vt:lpstr>Frames:</vt:lpstr>
      <vt:lpstr>Frame tags:</vt:lpstr>
      <vt:lpstr>Forms:</vt:lpstr>
      <vt:lpstr>Form tag:</vt:lpstr>
    </vt:vector>
  </TitlesOfParts>
  <Company>KING KHALID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Technologies</dc:title>
  <dc:creator>MUHAMMAD DILDAR</dc:creator>
  <cp:lastModifiedBy>omer ltag</cp:lastModifiedBy>
  <cp:revision>14</cp:revision>
  <dcterms:created xsi:type="dcterms:W3CDTF">2022-12-13T07:08:36Z</dcterms:created>
  <dcterms:modified xsi:type="dcterms:W3CDTF">2025-02-26T19:50:10Z</dcterms:modified>
</cp:coreProperties>
</file>